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75" r:id="rId3"/>
    <p:sldId id="276" r:id="rId4"/>
    <p:sldId id="277" r:id="rId5"/>
    <p:sldId id="278" r:id="rId6"/>
    <p:sldId id="279" r:id="rId7"/>
    <p:sldId id="280" r:id="rId8"/>
    <p:sldId id="281" r:id="rId9"/>
    <p:sldId id="282" r:id="rId10"/>
    <p:sldId id="283" r:id="rId11"/>
    <p:sldId id="284" r:id="rId12"/>
    <p:sldId id="286" r:id="rId13"/>
    <p:sldId id="28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74" autoAdjust="0"/>
  </p:normalViewPr>
  <p:slideViewPr>
    <p:cSldViewPr snapToGrid="0">
      <p:cViewPr varScale="1">
        <p:scale>
          <a:sx n="70" d="100"/>
          <a:sy n="70" d="100"/>
        </p:scale>
        <p:origin x="636"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1F4B8-9CA4-0952-8EB1-46BA122C4F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43CAC8D-28F6-6585-429E-474F02BEB2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FE2CC1A-486D-5E96-466C-C45BC9B08329}"/>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3871A46E-4746-4A8E-0BA9-72D0147A77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F02D95-7C1B-E683-6C60-CD1E1339434F}"/>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4786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6BF1-8F0E-BEC7-FFB9-6616058B844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34A176F-9B15-80E4-876D-C4B04DE1B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4B9345-0C88-4893-B489-785E40A585E1}"/>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F69C436E-9F2C-6080-9306-16BB6B853B3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D84D94-9F0D-F2AB-1BC1-2E604702F4D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885777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BE8F-4AD1-0D0F-E328-2487319ED6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7B8D72A-E8CA-662D-4D35-18BE9F85E3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ED0972-B39C-0191-CF64-F3EF7745FED9}"/>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607F9B55-4DD5-2C53-C2FB-FA895E8D88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420F9B-DD5F-9C5C-05FD-8646C843E65A}"/>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3835333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473D-2C48-FEF3-FDC9-7D71A643CA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E602F1-6B76-579F-DB89-AC4ADD2901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45B2CE4-A37E-C3E6-39B2-742D34D244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20112AE-01CB-A013-A6EA-A7694866CE30}"/>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F635CD07-C0C3-4FE2-6D8A-57BB35DD67A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9D01CE4-90C1-67BC-DCFF-05FCE2AA6662}"/>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965002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C9CFB-87AB-0976-96A3-0F6BC8DBD81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7962B77-E9EC-9765-E3E8-6DCFAA12D0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E90DF-8F78-029B-D074-35AEAA6696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37ABB5C-58A3-4621-612B-B17A010F4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82976B-D039-9DBE-BDD6-0942244D9E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C549A1F-480A-2838-0E41-87A05D1D3A4F}"/>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8" name="Footer Placeholder 7">
            <a:extLst>
              <a:ext uri="{FF2B5EF4-FFF2-40B4-BE49-F238E27FC236}">
                <a16:creationId xmlns:a16="http://schemas.microsoft.com/office/drawing/2014/main" id="{57346401-F11F-7D3C-4419-730F2DCA406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858C478-39F6-EAE7-9FD3-ABA4325DB90F}"/>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99892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9EDD-854F-9F92-00C9-8DB337B7024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F87D858-C943-3604-D946-EE6DFCE9481A}"/>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4" name="Footer Placeholder 3">
            <a:extLst>
              <a:ext uri="{FF2B5EF4-FFF2-40B4-BE49-F238E27FC236}">
                <a16:creationId xmlns:a16="http://schemas.microsoft.com/office/drawing/2014/main" id="{00450146-EB8F-704A-774F-0BE38E959B2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69C225F-B14D-3736-5493-53C39A835741}"/>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2253293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43AD5-40A0-6681-D5AA-926A5AEE09B1}"/>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3" name="Footer Placeholder 2">
            <a:extLst>
              <a:ext uri="{FF2B5EF4-FFF2-40B4-BE49-F238E27FC236}">
                <a16:creationId xmlns:a16="http://schemas.microsoft.com/office/drawing/2014/main" id="{439398C4-74F4-8641-E07C-F13BF03AD11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0D9CAA1-D1C7-0832-8933-3E78FEF8AB8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401693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C171C-98C3-8179-7274-7386ECF009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D355A97-D0BE-DF04-69E8-DD982C2D3B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863894A-14A5-B6A2-256E-2A8A39BC6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94145-F4A3-496E-8362-9CFC5885A495}"/>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6FDCA442-7578-DA7B-2358-C60ED436A15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0F500D-4C9B-D63C-CF5B-2703125815C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2990812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93C9-C621-E0F9-4465-4C7F7676A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B122C33-0A75-C9B7-98B8-F122924EA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E1F75CB-DBFF-EFB7-07CB-23FB0A087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BAE2E-72A0-08D8-E61A-D1536F2B433C}"/>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5BA02581-BEF4-A13F-13C3-666C70D267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9981AF-5DCD-6D4C-7E49-850D27F80262}"/>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74277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52D2-1E60-967A-99D4-51517612E71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9BA6B76-3B20-3765-F857-1E92ACF188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61E49B-41B4-C7DE-2219-B17AD8C96DBB}"/>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B8329806-7431-99D3-6717-1C4DBF5B7C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046AC0-2A27-0F23-C355-EE85A34A6CDE}"/>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354682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945884-2779-FA47-2207-B832B4AAD3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A694D2-9472-64D1-74D3-59E361B0EF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31E0B0-032D-E52F-C25C-5F312D63F925}"/>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EAEA9F16-139C-928A-473B-24F63B20B1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3ECBEC-5980-2F61-BF30-EEBEEF092CD1}"/>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224290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61F38-C2F5-928A-0623-C87E4E01BA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92C777D-437F-FF40-9623-6743ACFF89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74F9A-19EA-4CA3-57D2-062E2DEAF1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19B4F79F-C659-C7AF-59BA-9C14F0A028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633DA5F-18B6-67FE-244A-2F2BBF997B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56AFDA-01E1-413F-9485-75BEF0CA0FF9}" type="slidenum">
              <a:rPr lang="en-GB" smtClean="0"/>
              <a:t>‹#›</a:t>
            </a:fld>
            <a:endParaRPr lang="en-GB"/>
          </a:p>
        </p:txBody>
      </p:sp>
    </p:spTree>
    <p:extLst>
      <p:ext uri="{BB962C8B-B14F-4D97-AF65-F5344CB8AC3E}">
        <p14:creationId xmlns:p14="http://schemas.microsoft.com/office/powerpoint/2010/main" val="36964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1.xml"/><Relationship Id="rId5" Type="http://schemas.microsoft.com/office/2007/relationships/hdphoto" Target="../media/hdphoto4.wdp"/><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8.png"/><Relationship Id="rId1" Type="http://schemas.openxmlformats.org/officeDocument/2006/relationships/slideLayout" Target="../slideLayouts/slideLayout1.xml"/><Relationship Id="rId5" Type="http://schemas.microsoft.com/office/2007/relationships/hdphoto" Target="../media/hdphoto7.wdp"/><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microsoft.com/office/2007/relationships/hdphoto" Target="../media/hdphoto9.wdp"/></Relationships>
</file>

<file path=ppt/slides/_rels/slide1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1.jpg"/><Relationship Id="rId5" Type="http://schemas.microsoft.com/office/2007/relationships/hdphoto" Target="../media/hdphoto10.wdp"/><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C1716-08C8-BD8A-E43C-FBE9BC725471}"/>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9EE9E44-8F2C-9073-0105-9159DF1E3818}"/>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10" name="Rectangle: Rounded Corners 9">
            <a:extLst>
              <a:ext uri="{FF2B5EF4-FFF2-40B4-BE49-F238E27FC236}">
                <a16:creationId xmlns:a16="http://schemas.microsoft.com/office/drawing/2014/main" id="{0B78B174-2E04-D7AB-1A64-16AFA505DAB9}"/>
              </a:ext>
            </a:extLst>
          </p:cNvPr>
          <p:cNvSpPr/>
          <p:nvPr/>
        </p:nvSpPr>
        <p:spPr>
          <a:xfrm>
            <a:off x="185738" y="1325466"/>
            <a:ext cx="11872911" cy="5018184"/>
          </a:xfrm>
          <a:prstGeom prst="roundRect">
            <a:avLst>
              <a:gd name="adj" fmla="val 8598"/>
            </a:avLst>
          </a:prstGeom>
          <a:noFill/>
          <a:ln w="28575">
            <a:solidFill>
              <a:srgbClr val="00206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w="38100">
                <a:solidFill>
                  <a:schemeClr val="tx1"/>
                </a:solidFill>
                <a:prstDash val="lgDash"/>
              </a:ln>
            </a:endParaRPr>
          </a:p>
        </p:txBody>
      </p:sp>
      <p:grpSp>
        <p:nvGrpSpPr>
          <p:cNvPr id="7" name="Group 6">
            <a:extLst>
              <a:ext uri="{FF2B5EF4-FFF2-40B4-BE49-F238E27FC236}">
                <a16:creationId xmlns:a16="http://schemas.microsoft.com/office/drawing/2014/main" id="{A289CD64-D455-F717-8C5C-1FA960D3A9D0}"/>
              </a:ext>
            </a:extLst>
          </p:cNvPr>
          <p:cNvGrpSpPr/>
          <p:nvPr/>
        </p:nvGrpSpPr>
        <p:grpSpPr>
          <a:xfrm>
            <a:off x="557219" y="2050930"/>
            <a:ext cx="8508231" cy="3594552"/>
            <a:chOff x="557219" y="2050930"/>
            <a:chExt cx="8508231" cy="3594552"/>
          </a:xfrm>
        </p:grpSpPr>
        <p:sp>
          <p:nvSpPr>
            <p:cNvPr id="8" name="Rectangle 7">
              <a:extLst>
                <a:ext uri="{FF2B5EF4-FFF2-40B4-BE49-F238E27FC236}">
                  <a16:creationId xmlns:a16="http://schemas.microsoft.com/office/drawing/2014/main" id="{EA7B2BEB-08B9-EF91-9A2A-FD464642850D}"/>
                </a:ext>
              </a:extLst>
            </p:cNvPr>
            <p:cNvSpPr/>
            <p:nvPr/>
          </p:nvSpPr>
          <p:spPr>
            <a:xfrm>
              <a:off x="557219" y="2050930"/>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42B75D2B-6FFA-B6FF-A7AD-61F88B3FF2FF}"/>
                </a:ext>
              </a:extLst>
            </p:cNvPr>
            <p:cNvSpPr/>
            <p:nvPr/>
          </p:nvSpPr>
          <p:spPr>
            <a:xfrm>
              <a:off x="1078738" y="2050930"/>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endParaRPr lang="en-GB" dirty="0"/>
            </a:p>
          </p:txBody>
        </p:sp>
      </p:grpSp>
      <p:sp>
        <p:nvSpPr>
          <p:cNvPr id="12" name="Rectangle: Rounded Corners 11">
            <a:extLst>
              <a:ext uri="{FF2B5EF4-FFF2-40B4-BE49-F238E27FC236}">
                <a16:creationId xmlns:a16="http://schemas.microsoft.com/office/drawing/2014/main" id="{1A4EB074-11B3-5EFA-629B-C796D206D197}"/>
              </a:ext>
            </a:extLst>
          </p:cNvPr>
          <p:cNvSpPr/>
          <p:nvPr/>
        </p:nvSpPr>
        <p:spPr>
          <a:xfrm>
            <a:off x="557219" y="220104"/>
            <a:ext cx="7986712" cy="814388"/>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3200" dirty="0">
                <a:ln>
                  <a:solidFill>
                    <a:schemeClr val="bg1"/>
                  </a:solidFill>
                </a:ln>
                <a:solidFill>
                  <a:schemeClr val="bg1"/>
                </a:solidFill>
                <a:latin typeface="Arial" panose="020B0604020202020204" pitchFamily="34" charset="0"/>
                <a:cs typeface="Arial" panose="020B0604020202020204" pitchFamily="34" charset="0"/>
              </a:rPr>
              <a:t> TEAM 9 PROJECT PRESENTATION</a:t>
            </a:r>
          </a:p>
        </p:txBody>
      </p:sp>
      <p:sp>
        <p:nvSpPr>
          <p:cNvPr id="4" name="TextBox 3">
            <a:extLst>
              <a:ext uri="{FF2B5EF4-FFF2-40B4-BE49-F238E27FC236}">
                <a16:creationId xmlns:a16="http://schemas.microsoft.com/office/drawing/2014/main" id="{4EA986F9-EA2C-1EF8-E115-0B9A60094EAA}"/>
              </a:ext>
            </a:extLst>
          </p:cNvPr>
          <p:cNvSpPr txBox="1"/>
          <p:nvPr/>
        </p:nvSpPr>
        <p:spPr>
          <a:xfrm>
            <a:off x="1181702" y="2146464"/>
            <a:ext cx="7743933" cy="3662541"/>
          </a:xfrm>
          <a:prstGeom prst="rect">
            <a:avLst/>
          </a:prstGeom>
          <a:noFill/>
        </p:spPr>
        <p:txBody>
          <a:bodyPr wrap="square" rtlCol="0">
            <a:spAutoFit/>
          </a:bodyPr>
          <a:lstStyle/>
          <a:p>
            <a:pPr algn="ctr"/>
            <a:r>
              <a:rPr lang="en-GB" sz="4800" b="1" dirty="0">
                <a:solidFill>
                  <a:schemeClr val="bg1"/>
                </a:solidFill>
              </a:rPr>
              <a:t>TCP IP COMMUNICATION IN ACTION</a:t>
            </a:r>
          </a:p>
          <a:p>
            <a:pPr algn="ctr"/>
            <a:endParaRPr lang="en-GB" sz="4000" b="1" dirty="0">
              <a:solidFill>
                <a:schemeClr val="bg1"/>
              </a:solidFill>
            </a:endParaRPr>
          </a:p>
          <a:p>
            <a:pPr algn="ctr"/>
            <a:r>
              <a:rPr lang="en-GB" dirty="0">
                <a:solidFill>
                  <a:schemeClr val="bg1"/>
                </a:solidFill>
              </a:rPr>
              <a:t> </a:t>
            </a:r>
            <a:r>
              <a:rPr lang="en-GB" sz="3200" b="1" dirty="0">
                <a:solidFill>
                  <a:schemeClr val="bg1"/>
                </a:solidFill>
              </a:rPr>
              <a:t>COMMUNICATION SCENARIO</a:t>
            </a:r>
          </a:p>
          <a:p>
            <a:pPr algn="ctr"/>
            <a:r>
              <a:rPr lang="en-GB" sz="3200" b="1" dirty="0">
                <a:solidFill>
                  <a:schemeClr val="bg1"/>
                </a:solidFill>
              </a:rPr>
              <a:t>Opening a secure website</a:t>
            </a:r>
          </a:p>
          <a:p>
            <a:pPr algn="ctr"/>
            <a:endParaRPr lang="en-GB" sz="3200" b="1" dirty="0">
              <a:solidFill>
                <a:schemeClr val="bg1"/>
              </a:solidFill>
            </a:endParaRPr>
          </a:p>
        </p:txBody>
      </p:sp>
      <p:pic>
        <p:nvPicPr>
          <p:cNvPr id="14" name="Picture 13">
            <a:extLst>
              <a:ext uri="{FF2B5EF4-FFF2-40B4-BE49-F238E27FC236}">
                <a16:creationId xmlns:a16="http://schemas.microsoft.com/office/drawing/2014/main" id="{CC839CE1-F43B-B53A-04F0-9A4BBB7510F1}"/>
              </a:ext>
            </a:extLst>
          </p:cNvPr>
          <p:cNvPicPr>
            <a:picLocks noChangeAspect="1"/>
          </p:cNvPicPr>
          <p:nvPr/>
        </p:nvPicPr>
        <p:blipFill>
          <a:blip r:embed="rId2">
            <a:extLst>
              <a:ext uri="{28A0092B-C50C-407E-A947-70E740481C1C}">
                <a14:useLocalDpi xmlns:a14="http://schemas.microsoft.com/office/drawing/2010/main" val="0"/>
              </a:ext>
            </a:extLst>
          </a:blip>
          <a:srcRect l="8673" t="9153" r="8741" b="9652"/>
          <a:stretch>
            <a:fillRect/>
          </a:stretch>
        </p:blipFill>
        <p:spPr>
          <a:xfrm>
            <a:off x="9812984" y="30714"/>
            <a:ext cx="1200761" cy="1180508"/>
          </a:xfrm>
          <a:prstGeom prst="rect">
            <a:avLst/>
          </a:prstGeom>
        </p:spPr>
      </p:pic>
    </p:spTree>
    <p:extLst>
      <p:ext uri="{BB962C8B-B14F-4D97-AF65-F5344CB8AC3E}">
        <p14:creationId xmlns:p14="http://schemas.microsoft.com/office/powerpoint/2010/main" val="3353767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066F1-24C1-0D16-8058-16AC58331BD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3523B10D-E5A7-2CFF-E656-6EA5F0AFB4C2}"/>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32F5ED7C-3D2E-D316-B93B-EBC3BA464AA5}"/>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2FB9B9E5-C8F5-3E7A-F2D3-A64937F39484}"/>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4" name="TextBox 23">
            <a:extLst>
              <a:ext uri="{FF2B5EF4-FFF2-40B4-BE49-F238E27FC236}">
                <a16:creationId xmlns:a16="http://schemas.microsoft.com/office/drawing/2014/main" id="{02F4E18C-7D55-86D6-CC3E-782B5EDA3EE5}"/>
              </a:ext>
            </a:extLst>
          </p:cNvPr>
          <p:cNvSpPr txBox="1"/>
          <p:nvPr/>
        </p:nvSpPr>
        <p:spPr>
          <a:xfrm>
            <a:off x="588840" y="129627"/>
            <a:ext cx="8309500" cy="461665"/>
          </a:xfrm>
          <a:prstGeom prst="rect">
            <a:avLst/>
          </a:prstGeom>
          <a:noFill/>
        </p:spPr>
        <p:txBody>
          <a:bodyPr wrap="square">
            <a:spAutoFit/>
          </a:bodyPr>
          <a:lstStyle/>
          <a:p>
            <a:r>
              <a:rPr lang="en-US" sz="2400" b="1" dirty="0">
                <a:ln>
                  <a:solidFill>
                    <a:schemeClr val="bg1"/>
                  </a:solidFill>
                </a:ln>
                <a:solidFill>
                  <a:schemeClr val="bg1"/>
                </a:solidFill>
                <a:cs typeface="Arial" panose="020B0604020202020204" pitchFamily="34" charset="0"/>
              </a:rPr>
              <a:t>Problem Statement and Roadmap</a:t>
            </a:r>
            <a:endParaRPr lang="en-GB" sz="2400" b="1" dirty="0"/>
          </a:p>
        </p:txBody>
      </p:sp>
      <p:sp>
        <p:nvSpPr>
          <p:cNvPr id="2" name="Rectangle: Rounded Corners 1">
            <a:extLst>
              <a:ext uri="{FF2B5EF4-FFF2-40B4-BE49-F238E27FC236}">
                <a16:creationId xmlns:a16="http://schemas.microsoft.com/office/drawing/2014/main" id="{43F3BCD2-01D1-4EEB-25FE-D94C074A32E6}"/>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5" name="TextBox 4">
            <a:extLst>
              <a:ext uri="{FF2B5EF4-FFF2-40B4-BE49-F238E27FC236}">
                <a16:creationId xmlns:a16="http://schemas.microsoft.com/office/drawing/2014/main" id="{9882A849-4FF2-1088-688F-69E9C6589F3E}"/>
              </a:ext>
            </a:extLst>
          </p:cNvPr>
          <p:cNvSpPr txBox="1"/>
          <p:nvPr/>
        </p:nvSpPr>
        <p:spPr>
          <a:xfrm flipH="1">
            <a:off x="359250" y="764275"/>
            <a:ext cx="11473498" cy="1454244"/>
          </a:xfrm>
          <a:prstGeom prst="rect">
            <a:avLst/>
          </a:prstGeom>
          <a:noFill/>
        </p:spPr>
        <p:txBody>
          <a:bodyPr wrap="square" rtlCol="0">
            <a:spAutoFit/>
          </a:bodyPr>
          <a:lstStyle/>
          <a:p>
            <a:pPr>
              <a:lnSpc>
                <a:spcPct val="150000"/>
              </a:lnSpc>
            </a:pPr>
            <a:r>
              <a:rPr lang="en-GB" b="1" dirty="0"/>
              <a:t>How does a user's computer securely communicate with a web server when opening an HTTPS website?</a:t>
            </a:r>
          </a:p>
          <a:p>
            <a:pPr>
              <a:lnSpc>
                <a:spcPct val="150000"/>
              </a:lnSpc>
            </a:pPr>
            <a:endParaRPr lang="en-GB" sz="400" b="1" dirty="0"/>
          </a:p>
          <a:p>
            <a:r>
              <a:rPr lang="en-GB" dirty="0"/>
              <a:t>This presentation traces the journey of secure web communication through the five TCP/IP communication layers, showing how protocols, addressing, network devices, encapsulation and security work together from the client to the web server and back.</a:t>
            </a:r>
          </a:p>
        </p:txBody>
      </p:sp>
      <p:graphicFrame>
        <p:nvGraphicFramePr>
          <p:cNvPr id="7" name="Table 6">
            <a:extLst>
              <a:ext uri="{FF2B5EF4-FFF2-40B4-BE49-F238E27FC236}">
                <a16:creationId xmlns:a16="http://schemas.microsoft.com/office/drawing/2014/main" id="{2B37AA6A-9A14-B7E3-A3A8-C1B7821FA70D}"/>
              </a:ext>
            </a:extLst>
          </p:cNvPr>
          <p:cNvGraphicFramePr>
            <a:graphicFrameLocks noGrp="1"/>
          </p:cNvGraphicFramePr>
          <p:nvPr>
            <p:extLst>
              <p:ext uri="{D42A27DB-BD31-4B8C-83A1-F6EECF244321}">
                <p14:modId xmlns:p14="http://schemas.microsoft.com/office/powerpoint/2010/main" val="1713562721"/>
              </p:ext>
            </p:extLst>
          </p:nvPr>
        </p:nvGraphicFramePr>
        <p:xfrm>
          <a:off x="588840" y="2796836"/>
          <a:ext cx="10709385" cy="3577844"/>
        </p:xfrm>
        <a:graphic>
          <a:graphicData uri="http://schemas.openxmlformats.org/drawingml/2006/table">
            <a:tbl>
              <a:tblPr firstRow="1" bandRow="1">
                <a:tableStyleId>{5940675A-B579-460E-94D1-54222C63F5DA}</a:tableStyleId>
              </a:tblPr>
              <a:tblGrid>
                <a:gridCol w="2141877">
                  <a:extLst>
                    <a:ext uri="{9D8B030D-6E8A-4147-A177-3AD203B41FA5}">
                      <a16:colId xmlns:a16="http://schemas.microsoft.com/office/drawing/2014/main" val="3167425638"/>
                    </a:ext>
                  </a:extLst>
                </a:gridCol>
                <a:gridCol w="2141877">
                  <a:extLst>
                    <a:ext uri="{9D8B030D-6E8A-4147-A177-3AD203B41FA5}">
                      <a16:colId xmlns:a16="http://schemas.microsoft.com/office/drawing/2014/main" val="3897376675"/>
                    </a:ext>
                  </a:extLst>
                </a:gridCol>
                <a:gridCol w="2141877">
                  <a:extLst>
                    <a:ext uri="{9D8B030D-6E8A-4147-A177-3AD203B41FA5}">
                      <a16:colId xmlns:a16="http://schemas.microsoft.com/office/drawing/2014/main" val="3421214435"/>
                    </a:ext>
                  </a:extLst>
                </a:gridCol>
                <a:gridCol w="2141877">
                  <a:extLst>
                    <a:ext uri="{9D8B030D-6E8A-4147-A177-3AD203B41FA5}">
                      <a16:colId xmlns:a16="http://schemas.microsoft.com/office/drawing/2014/main" val="2129878702"/>
                    </a:ext>
                  </a:extLst>
                </a:gridCol>
                <a:gridCol w="2141877">
                  <a:extLst>
                    <a:ext uri="{9D8B030D-6E8A-4147-A177-3AD203B41FA5}">
                      <a16:colId xmlns:a16="http://schemas.microsoft.com/office/drawing/2014/main" val="2986068577"/>
                    </a:ext>
                  </a:extLst>
                </a:gridCol>
              </a:tblGrid>
              <a:tr h="665861">
                <a:tc>
                  <a:txBody>
                    <a:bodyPr/>
                    <a:lstStyle/>
                    <a:p>
                      <a:pPr algn="ctr"/>
                      <a:r>
                        <a:rPr lang="en-US" dirty="0"/>
                        <a:t>STEP 1</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STEP 2</a:t>
                      </a:r>
                      <a:endParaRPr lang="en-GB" dirty="0"/>
                    </a:p>
                    <a:p>
                      <a:pPr algn="ct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STEP 3</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STEP 4</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STEP 5</a:t>
                      </a:r>
                      <a:endParaRPr lang="en-GB" dirty="0"/>
                    </a:p>
                  </a:txBody>
                  <a:tcPr/>
                </a:tc>
                <a:extLst>
                  <a:ext uri="{0D108BD9-81ED-4DB2-BD59-A6C34878D82A}">
                    <a16:rowId xmlns:a16="http://schemas.microsoft.com/office/drawing/2014/main" val="332948692"/>
                  </a:ext>
                </a:extLst>
              </a:tr>
              <a:tr h="665861">
                <a:tc>
                  <a:txBody>
                    <a:bodyPr/>
                    <a:lstStyle/>
                    <a:p>
                      <a:r>
                        <a:rPr lang="en-US" dirty="0"/>
                        <a:t>Application Layer</a:t>
                      </a:r>
                      <a:endParaRPr lang="en-GB" dirty="0"/>
                    </a:p>
                  </a:txBody>
                  <a:tcPr/>
                </a:tc>
                <a:tc>
                  <a:txBody>
                    <a:bodyPr/>
                    <a:lstStyle/>
                    <a:p>
                      <a:r>
                        <a:rPr lang="en-US" dirty="0"/>
                        <a:t>Transport Layer</a:t>
                      </a:r>
                      <a:endParaRPr lang="en-GB" dirty="0"/>
                    </a:p>
                  </a:txBody>
                  <a:tcPr/>
                </a:tc>
                <a:tc>
                  <a:txBody>
                    <a:bodyPr/>
                    <a:lstStyle/>
                    <a:p>
                      <a:r>
                        <a:rPr lang="en-US" dirty="0"/>
                        <a:t>Network Layer</a:t>
                      </a:r>
                      <a:endParaRPr lang="en-GB" dirty="0"/>
                    </a:p>
                  </a:txBody>
                  <a:tcPr/>
                </a:tc>
                <a:tc>
                  <a:txBody>
                    <a:bodyPr/>
                    <a:lstStyle/>
                    <a:p>
                      <a:r>
                        <a:rPr lang="en-US" dirty="0"/>
                        <a:t>Data-Link Layer</a:t>
                      </a:r>
                      <a:endParaRPr lang="en-GB" dirty="0"/>
                    </a:p>
                  </a:txBody>
                  <a:tcPr/>
                </a:tc>
                <a:tc>
                  <a:txBody>
                    <a:bodyPr/>
                    <a:lstStyle/>
                    <a:p>
                      <a:r>
                        <a:rPr lang="en-US" dirty="0"/>
                        <a:t>Physical Layer</a:t>
                      </a:r>
                      <a:endParaRPr lang="en-GB" dirty="0"/>
                    </a:p>
                  </a:txBody>
                  <a:tcPr/>
                </a:tc>
                <a:extLst>
                  <a:ext uri="{0D108BD9-81ED-4DB2-BD59-A6C34878D82A}">
                    <a16:rowId xmlns:a16="http://schemas.microsoft.com/office/drawing/2014/main" val="4121760701"/>
                  </a:ext>
                </a:extLst>
              </a:tr>
              <a:tr h="665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tx1"/>
                          </a:solidFill>
                          <a:effectLst/>
                        </a:rPr>
                        <a:t>Dauda </a:t>
                      </a:r>
                      <a:r>
                        <a:rPr lang="en-GB" sz="1800" b="1" kern="1200" dirty="0" err="1">
                          <a:solidFill>
                            <a:schemeClr val="tx1"/>
                          </a:solidFill>
                          <a:effectLst/>
                        </a:rPr>
                        <a:t>Yakuni</a:t>
                      </a:r>
                      <a:r>
                        <a:rPr lang="en-GB" sz="1800" b="1" kern="1200" dirty="0">
                          <a:solidFill>
                            <a:schemeClr val="tx1"/>
                          </a:solidFill>
                          <a:effectLst/>
                        </a:rPr>
                        <a:t> Haruna</a:t>
                      </a:r>
                      <a:endParaRPr lang="en-GB" dirty="0"/>
                    </a:p>
                  </a:txBody>
                  <a:tcPr/>
                </a:tc>
                <a:tc>
                  <a:txBody>
                    <a:bodyPr/>
                    <a:lstStyle/>
                    <a:p>
                      <a:pPr algn="ctr"/>
                      <a:r>
                        <a:rPr lang="en-GB" sz="1800" b="1" kern="1200" dirty="0">
                          <a:solidFill>
                            <a:schemeClr val="tx1"/>
                          </a:solidFill>
                          <a:effectLst/>
                        </a:rPr>
                        <a:t>Musa Shuaibu</a:t>
                      </a:r>
                      <a:endParaRPr lang="en-GB" dirty="0"/>
                    </a:p>
                  </a:txBody>
                  <a:tcPr/>
                </a:tc>
                <a:tc>
                  <a:txBody>
                    <a:bodyPr/>
                    <a:lstStyle/>
                    <a:p>
                      <a:pPr algn="ctr"/>
                      <a:r>
                        <a:rPr lang="en-GB" sz="1800" b="1" kern="1200" dirty="0">
                          <a:solidFill>
                            <a:schemeClr val="tx1"/>
                          </a:solidFill>
                          <a:effectLst/>
                        </a:rPr>
                        <a:t>Risa Koila</a:t>
                      </a:r>
                      <a:endParaRPr lang="en-GB" dirty="0"/>
                    </a:p>
                  </a:txBody>
                  <a:tcPr/>
                </a:tc>
                <a:tc>
                  <a:txBody>
                    <a:bodyPr/>
                    <a:lstStyle/>
                    <a:p>
                      <a:pPr algn="ctr"/>
                      <a:r>
                        <a:rPr lang="en-GB" sz="1800" b="1" kern="1200" dirty="0">
                          <a:solidFill>
                            <a:schemeClr val="tx1"/>
                          </a:solidFill>
                          <a:effectLst/>
                        </a:rPr>
                        <a:t>Mohammed Ibrahim</a:t>
                      </a:r>
                      <a:endParaRPr lang="en-GB" dirty="0"/>
                    </a:p>
                  </a:txBody>
                  <a:tcPr/>
                </a:tc>
                <a:tc>
                  <a:txBody>
                    <a:bodyPr/>
                    <a:lstStyle/>
                    <a:p>
                      <a:pPr algn="ctr"/>
                      <a:r>
                        <a:rPr lang="en-GB" sz="1800" b="1" kern="1200" dirty="0">
                          <a:solidFill>
                            <a:schemeClr val="tx1"/>
                          </a:solidFill>
                          <a:effectLst/>
                        </a:rPr>
                        <a:t>Ayodele Banjo</a:t>
                      </a:r>
                      <a:endParaRPr lang="en-GB" dirty="0"/>
                    </a:p>
                  </a:txBody>
                  <a:tcPr/>
                </a:tc>
                <a:extLst>
                  <a:ext uri="{0D108BD9-81ED-4DB2-BD59-A6C34878D82A}">
                    <a16:rowId xmlns:a16="http://schemas.microsoft.com/office/drawing/2014/main" val="3164206737"/>
                  </a:ext>
                </a:extLst>
              </a:tr>
              <a:tr h="6658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rPr>
                        <a:t>C11/26/FCDF/17183</a:t>
                      </a:r>
                      <a:endParaRPr lang="en-GB" dirty="0"/>
                    </a:p>
                    <a:p>
                      <a:endParaRPr lang="en-GB" dirty="0"/>
                    </a:p>
                  </a:txBody>
                  <a:tcPr/>
                </a:tc>
                <a:tc>
                  <a:txBody>
                    <a:bodyPr/>
                    <a:lstStyle/>
                    <a:p>
                      <a:r>
                        <a:rPr lang="en-GB" sz="1800" b="0" kern="1200" dirty="0">
                          <a:solidFill>
                            <a:schemeClr val="tx1"/>
                          </a:solidFill>
                          <a:effectLst/>
                        </a:rPr>
                        <a:t>C11/26/FCDF/17153</a:t>
                      </a:r>
                      <a:endParaRPr lang="en-GB" dirty="0"/>
                    </a:p>
                  </a:txBody>
                  <a:tcPr/>
                </a:tc>
                <a:tc>
                  <a:txBody>
                    <a:bodyPr/>
                    <a:lstStyle/>
                    <a:p>
                      <a:r>
                        <a:rPr lang="en-GB" sz="1800" b="0" kern="1200" dirty="0">
                          <a:solidFill>
                            <a:schemeClr val="tx1"/>
                          </a:solidFill>
                          <a:effectLst/>
                        </a:rPr>
                        <a:t>C11/26/FCDF/17156</a:t>
                      </a:r>
                      <a:endParaRPr lang="en-GB" dirty="0"/>
                    </a:p>
                  </a:txBody>
                  <a:tcPr/>
                </a:tc>
                <a:tc>
                  <a:txBody>
                    <a:bodyPr/>
                    <a:lstStyle/>
                    <a:p>
                      <a:r>
                        <a:rPr lang="en-GB" sz="1800" b="0" kern="1200" dirty="0">
                          <a:solidFill>
                            <a:schemeClr val="tx1"/>
                          </a:solidFill>
                          <a:effectLst/>
                        </a:rPr>
                        <a:t>C11/26/FCDF/17175</a:t>
                      </a:r>
                      <a:endParaRPr lang="en-GB" dirty="0"/>
                    </a:p>
                  </a:txBody>
                  <a:tcPr/>
                </a:tc>
                <a:tc>
                  <a:txBody>
                    <a:bodyPr/>
                    <a:lstStyle/>
                    <a:p>
                      <a:r>
                        <a:rPr lang="en-GB" sz="1800" b="0" kern="1200" dirty="0">
                          <a:solidFill>
                            <a:schemeClr val="tx1"/>
                          </a:solidFill>
                          <a:effectLst/>
                        </a:rPr>
                        <a:t>C11/26/FCDF/17169</a:t>
                      </a:r>
                      <a:endParaRPr lang="en-GB" dirty="0"/>
                    </a:p>
                  </a:txBody>
                  <a:tcPr/>
                </a:tc>
                <a:extLst>
                  <a:ext uri="{0D108BD9-81ED-4DB2-BD59-A6C34878D82A}">
                    <a16:rowId xmlns:a16="http://schemas.microsoft.com/office/drawing/2014/main" val="3702485437"/>
                  </a:ext>
                </a:extLst>
              </a:tr>
              <a:tr h="665861">
                <a:tc>
                  <a:txBody>
                    <a:bodyPr/>
                    <a:lstStyle/>
                    <a:p>
                      <a:pPr algn="ctr"/>
                      <a:r>
                        <a:rPr lang="en-GB" sz="1800" kern="1200" dirty="0">
                          <a:solidFill>
                            <a:schemeClr val="tx1"/>
                          </a:solidFill>
                          <a:effectLst/>
                        </a:rPr>
                        <a:t>File preparation and application services</a:t>
                      </a:r>
                    </a:p>
                    <a:p>
                      <a:pPr algn="ctr"/>
                      <a:endParaRPr lang="en-GB" dirty="0"/>
                    </a:p>
                  </a:txBody>
                  <a:tcPr/>
                </a:tc>
                <a:tc>
                  <a:txBody>
                    <a:bodyPr/>
                    <a:lstStyle/>
                    <a:p>
                      <a:pPr algn="ctr"/>
                      <a:r>
                        <a:rPr lang="en-GB" sz="1800" kern="1200" dirty="0">
                          <a:solidFill>
                            <a:schemeClr val="tx1"/>
                          </a:solidFill>
                          <a:effectLst/>
                        </a:rPr>
                        <a:t>Segmentation and reliable delivery</a:t>
                      </a:r>
                    </a:p>
                    <a:p>
                      <a:pPr algn="ctr"/>
                      <a:endParaRPr lang="en-GB" dirty="0"/>
                    </a:p>
                  </a:txBody>
                  <a:tcPr/>
                </a:tc>
                <a:tc>
                  <a:txBody>
                    <a:bodyPr/>
                    <a:lstStyle/>
                    <a:p>
                      <a:pPr algn="ctr"/>
                      <a:r>
                        <a:rPr lang="en-GB" sz="1800" kern="1200" dirty="0">
                          <a:solidFill>
                            <a:schemeClr val="tx1"/>
                          </a:solidFill>
                          <a:effectLst/>
                        </a:rPr>
                        <a:t>IP addressing and packet routing</a:t>
                      </a:r>
                    </a:p>
                    <a:p>
                      <a:pPr algn="ctr"/>
                      <a:endParaRPr lang="en-GB" dirty="0"/>
                    </a:p>
                  </a:txBody>
                  <a:tcPr/>
                </a:tc>
                <a:tc>
                  <a:txBody>
                    <a:bodyPr/>
                    <a:lstStyle/>
                    <a:p>
                      <a:pPr algn="ctr"/>
                      <a:r>
                        <a:rPr lang="en-GB" sz="1800" kern="1200" dirty="0">
                          <a:solidFill>
                            <a:schemeClr val="tx1"/>
                          </a:solidFill>
                          <a:effectLst/>
                        </a:rPr>
                        <a:t>Framing and MAC addressing</a:t>
                      </a:r>
                      <a:endParaRPr lang="en-GB" sz="1800" kern="1200" dirty="0">
                        <a:solidFill>
                          <a:schemeClr val="tx1"/>
                        </a:solidFill>
                        <a:effectLst/>
                        <a:latin typeface="+mn-lt"/>
                        <a:ea typeface="+mn-ea"/>
                        <a:cs typeface="+mn-cs"/>
                      </a:endParaRPr>
                    </a:p>
                  </a:txBody>
                  <a:tcPr/>
                </a:tc>
                <a:tc>
                  <a:txBody>
                    <a:bodyPr/>
                    <a:lstStyle/>
                    <a:p>
                      <a:pPr algn="ctr"/>
                      <a:r>
                        <a:rPr lang="en-GB" sz="1800" kern="1200" dirty="0">
                          <a:solidFill>
                            <a:schemeClr val="tx1"/>
                          </a:solidFill>
                          <a:effectLst/>
                        </a:rPr>
                        <a:t>Transmission of bits/signals</a:t>
                      </a:r>
                      <a:endParaRPr lang="en-GB" sz="1800" kern="1200" dirty="0">
                        <a:solidFill>
                          <a:schemeClr val="tx1"/>
                        </a:solidFill>
                        <a:effectLst/>
                        <a:latin typeface="+mn-lt"/>
                        <a:ea typeface="+mn-ea"/>
                        <a:cs typeface="+mn-cs"/>
                      </a:endParaRPr>
                    </a:p>
                  </a:txBody>
                  <a:tcPr/>
                </a:tc>
                <a:extLst>
                  <a:ext uri="{0D108BD9-81ED-4DB2-BD59-A6C34878D82A}">
                    <a16:rowId xmlns:a16="http://schemas.microsoft.com/office/drawing/2014/main" val="2731243868"/>
                  </a:ext>
                </a:extLst>
              </a:tr>
            </a:tbl>
          </a:graphicData>
        </a:graphic>
      </p:graphicFrame>
      <p:sp>
        <p:nvSpPr>
          <p:cNvPr id="13" name="TextBox 12">
            <a:extLst>
              <a:ext uri="{FF2B5EF4-FFF2-40B4-BE49-F238E27FC236}">
                <a16:creationId xmlns:a16="http://schemas.microsoft.com/office/drawing/2014/main" id="{E2780144-5B3C-67CA-F610-50F2DB2B3629}"/>
              </a:ext>
            </a:extLst>
          </p:cNvPr>
          <p:cNvSpPr txBox="1"/>
          <p:nvPr/>
        </p:nvSpPr>
        <p:spPr>
          <a:xfrm>
            <a:off x="106843" y="2218519"/>
            <a:ext cx="11364455" cy="400110"/>
          </a:xfrm>
          <a:prstGeom prst="rect">
            <a:avLst/>
          </a:prstGeom>
          <a:noFill/>
        </p:spPr>
        <p:txBody>
          <a:bodyPr wrap="square">
            <a:spAutoFit/>
          </a:bodyPr>
          <a:lstStyle/>
          <a:p>
            <a:pPr algn="ctr"/>
            <a:r>
              <a:rPr lang="en-GB" sz="2000" b="1" dirty="0"/>
              <a:t>💻 Client → Application → Transport → Network → Data-Link → Physical → 🌐 Network → Web Server</a:t>
            </a:r>
            <a:endParaRPr lang="en-GB" sz="2000" dirty="0"/>
          </a:p>
        </p:txBody>
      </p:sp>
    </p:spTree>
    <p:extLst>
      <p:ext uri="{BB962C8B-B14F-4D97-AF65-F5344CB8AC3E}">
        <p14:creationId xmlns:p14="http://schemas.microsoft.com/office/powerpoint/2010/main" val="1901251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5746-38A4-40AD-E1B6-1CE3BD1AD8AA}"/>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9F0BCFB0-EB8A-8441-C85D-F39D02C1B24E}"/>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A7AC5032-B94B-12CF-EC38-495A579E9472}"/>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AC952C65-49A3-0ED9-C6EB-2D1087DB6984}"/>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4" name="TextBox 23">
            <a:extLst>
              <a:ext uri="{FF2B5EF4-FFF2-40B4-BE49-F238E27FC236}">
                <a16:creationId xmlns:a16="http://schemas.microsoft.com/office/drawing/2014/main" id="{B84B6961-B93C-A70C-EA89-31668FBD3EE7}"/>
              </a:ext>
            </a:extLst>
          </p:cNvPr>
          <p:cNvSpPr txBox="1"/>
          <p:nvPr/>
        </p:nvSpPr>
        <p:spPr>
          <a:xfrm>
            <a:off x="741308" y="129627"/>
            <a:ext cx="7922114" cy="461665"/>
          </a:xfrm>
          <a:prstGeom prst="rect">
            <a:avLst/>
          </a:prstGeom>
          <a:noFill/>
        </p:spPr>
        <p:txBody>
          <a:bodyPr wrap="square">
            <a:spAutoFit/>
          </a:bodyPr>
          <a:lstStyle/>
          <a:p>
            <a:r>
              <a:rPr lang="en-GB" sz="2400" b="1" dirty="0">
                <a:solidFill>
                  <a:schemeClr val="bg1"/>
                </a:solidFill>
              </a:rPr>
              <a:t>APPLICATION LAYER: Opening a Secure Website </a:t>
            </a:r>
          </a:p>
        </p:txBody>
      </p:sp>
      <p:sp>
        <p:nvSpPr>
          <p:cNvPr id="2" name="Rectangle: Rounded Corners 1">
            <a:extLst>
              <a:ext uri="{FF2B5EF4-FFF2-40B4-BE49-F238E27FC236}">
                <a16:creationId xmlns:a16="http://schemas.microsoft.com/office/drawing/2014/main" id="{9C3A7A2B-2C7C-B1AC-17D7-10F7C45151E9}"/>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4" name="TextBox 3">
            <a:extLst>
              <a:ext uri="{FF2B5EF4-FFF2-40B4-BE49-F238E27FC236}">
                <a16:creationId xmlns:a16="http://schemas.microsoft.com/office/drawing/2014/main" id="{FFF89A10-B04B-903C-9BE9-0190B642DCDB}"/>
              </a:ext>
            </a:extLst>
          </p:cNvPr>
          <p:cNvSpPr txBox="1"/>
          <p:nvPr/>
        </p:nvSpPr>
        <p:spPr>
          <a:xfrm>
            <a:off x="320039" y="821541"/>
            <a:ext cx="5775961" cy="3416320"/>
          </a:xfrm>
          <a:prstGeom prst="rect">
            <a:avLst/>
          </a:prstGeom>
          <a:noFill/>
        </p:spPr>
        <p:txBody>
          <a:bodyPr wrap="square">
            <a:spAutoFit/>
          </a:bodyPr>
          <a:lstStyle/>
          <a:p>
            <a:r>
              <a:rPr lang="en-GB" b="1" dirty="0"/>
              <a:t>Application Layer</a:t>
            </a:r>
            <a:endParaRPr lang="en-GB" dirty="0"/>
          </a:p>
          <a:p>
            <a:pPr marL="742950" lvl="1" indent="-285750">
              <a:buFont typeface="Wingdings" panose="05000000000000000000" pitchFamily="2" charset="2"/>
              <a:buChar char="§"/>
            </a:pPr>
            <a:r>
              <a:rPr lang="en-GB" dirty="0"/>
              <a:t>The application layer provides interfaces for application software so that applications can use network service. The application layer protocols designate transport layer protocols and ports.</a:t>
            </a:r>
          </a:p>
          <a:p>
            <a:pPr lvl="1"/>
            <a:endParaRPr lang="en-GB" dirty="0"/>
          </a:p>
          <a:p>
            <a:pPr marL="742950" lvl="1" indent="-285750">
              <a:buFont typeface="Wingdings" panose="05000000000000000000" pitchFamily="2" charset="2"/>
              <a:buChar char="§"/>
            </a:pPr>
            <a:r>
              <a:rPr lang="en-GB" dirty="0"/>
              <a:t>PDUs transmitted at the application layer are called </a:t>
            </a:r>
            <a:r>
              <a:rPr lang="en-GB" b="1" dirty="0"/>
              <a:t>data</a:t>
            </a:r>
            <a:r>
              <a:rPr lang="en-GB" dirty="0"/>
              <a:t>.</a:t>
            </a:r>
            <a:endParaRPr lang="en-GB" b="1" dirty="0"/>
          </a:p>
          <a:p>
            <a:r>
              <a:rPr lang="en-GB" b="1" dirty="0"/>
              <a:t>What happens when the user enters an HTTPS URL?</a:t>
            </a:r>
          </a:p>
          <a:p>
            <a:endParaRPr lang="en-GB" dirty="0"/>
          </a:p>
          <a:p>
            <a:pPr marL="228600" marR="0">
              <a:spcAft>
                <a:spcPts val="800"/>
              </a:spcAft>
              <a:buNone/>
            </a:pPr>
            <a:r>
              <a:rPr lang="en-GB" b="1" dirty="0"/>
              <a:t>Scenario assumption: </a:t>
            </a:r>
            <a:r>
              <a:rPr lang="en-GB" dirty="0"/>
              <a:t>HTTPS Client initiate request to the HTTPS Server</a:t>
            </a:r>
          </a:p>
        </p:txBody>
      </p:sp>
      <p:pic>
        <p:nvPicPr>
          <p:cNvPr id="20" name="Picture 19">
            <a:extLst>
              <a:ext uri="{FF2B5EF4-FFF2-40B4-BE49-F238E27FC236}">
                <a16:creationId xmlns:a16="http://schemas.microsoft.com/office/drawing/2014/main" id="{1ACF897F-C557-DDC4-0639-460C6C4C41E8}"/>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829744" y="4290968"/>
            <a:ext cx="10047345" cy="1718195"/>
          </a:xfrm>
          <a:prstGeom prst="rect">
            <a:avLst/>
          </a:prstGeom>
        </p:spPr>
      </p:pic>
      <p:sp>
        <p:nvSpPr>
          <p:cNvPr id="21" name="TextBox 20">
            <a:extLst>
              <a:ext uri="{FF2B5EF4-FFF2-40B4-BE49-F238E27FC236}">
                <a16:creationId xmlns:a16="http://schemas.microsoft.com/office/drawing/2014/main" id="{2A562F09-EC1D-B1BD-DFA8-C434E961396B}"/>
              </a:ext>
            </a:extLst>
          </p:cNvPr>
          <p:cNvSpPr txBox="1"/>
          <p:nvPr/>
        </p:nvSpPr>
        <p:spPr>
          <a:xfrm>
            <a:off x="829744" y="5999664"/>
            <a:ext cx="2388346" cy="369332"/>
          </a:xfrm>
          <a:prstGeom prst="rect">
            <a:avLst/>
          </a:prstGeom>
          <a:noFill/>
        </p:spPr>
        <p:txBody>
          <a:bodyPr wrap="none" rtlCol="0">
            <a:spAutoFit/>
          </a:bodyPr>
          <a:lstStyle/>
          <a:p>
            <a:r>
              <a:rPr lang="en-US" b="1" dirty="0"/>
              <a:t>Standard TCP/IP model</a:t>
            </a:r>
            <a:endParaRPr lang="en-GB" b="1" dirty="0"/>
          </a:p>
        </p:txBody>
      </p:sp>
      <p:sp>
        <p:nvSpPr>
          <p:cNvPr id="22" name="TextBox 21">
            <a:extLst>
              <a:ext uri="{FF2B5EF4-FFF2-40B4-BE49-F238E27FC236}">
                <a16:creationId xmlns:a16="http://schemas.microsoft.com/office/drawing/2014/main" id="{5424CD5B-CAD8-0FB8-DC6C-79C49D18D70F}"/>
              </a:ext>
            </a:extLst>
          </p:cNvPr>
          <p:cNvSpPr txBox="1"/>
          <p:nvPr/>
        </p:nvSpPr>
        <p:spPr>
          <a:xfrm>
            <a:off x="5268961" y="5990165"/>
            <a:ext cx="1168910" cy="369332"/>
          </a:xfrm>
          <a:prstGeom prst="rect">
            <a:avLst/>
          </a:prstGeom>
          <a:noFill/>
        </p:spPr>
        <p:txBody>
          <a:bodyPr wrap="none" rtlCol="0">
            <a:spAutoFit/>
          </a:bodyPr>
          <a:lstStyle/>
          <a:p>
            <a:r>
              <a:rPr lang="en-US" b="1" dirty="0"/>
              <a:t>OSI model</a:t>
            </a:r>
            <a:endParaRPr lang="en-GB" b="1" dirty="0"/>
          </a:p>
        </p:txBody>
      </p:sp>
      <p:sp>
        <p:nvSpPr>
          <p:cNvPr id="23" name="TextBox 22">
            <a:extLst>
              <a:ext uri="{FF2B5EF4-FFF2-40B4-BE49-F238E27FC236}">
                <a16:creationId xmlns:a16="http://schemas.microsoft.com/office/drawing/2014/main" id="{89806011-E1A7-7CD4-DEC0-C60B903363F4}"/>
              </a:ext>
            </a:extLst>
          </p:cNvPr>
          <p:cNvSpPr txBox="1"/>
          <p:nvPr/>
        </p:nvSpPr>
        <p:spPr>
          <a:xfrm>
            <a:off x="8295419" y="5990165"/>
            <a:ext cx="2581669" cy="369332"/>
          </a:xfrm>
          <a:prstGeom prst="rect">
            <a:avLst/>
          </a:prstGeom>
          <a:noFill/>
        </p:spPr>
        <p:txBody>
          <a:bodyPr wrap="none" rtlCol="0">
            <a:spAutoFit/>
          </a:bodyPr>
          <a:lstStyle/>
          <a:p>
            <a:r>
              <a:rPr lang="en-US" b="1" dirty="0"/>
              <a:t>Equivalent  TCP/IP model</a:t>
            </a:r>
            <a:endParaRPr lang="en-GB" b="1" dirty="0"/>
          </a:p>
        </p:txBody>
      </p:sp>
      <p:sp>
        <p:nvSpPr>
          <p:cNvPr id="26" name="TextBox 25">
            <a:extLst>
              <a:ext uri="{FF2B5EF4-FFF2-40B4-BE49-F238E27FC236}">
                <a16:creationId xmlns:a16="http://schemas.microsoft.com/office/drawing/2014/main" id="{C9174F8F-8F87-761E-70A8-3A009023B719}"/>
              </a:ext>
            </a:extLst>
          </p:cNvPr>
          <p:cNvSpPr txBox="1"/>
          <p:nvPr/>
        </p:nvSpPr>
        <p:spPr>
          <a:xfrm>
            <a:off x="6437871" y="829743"/>
            <a:ext cx="5640398" cy="3395097"/>
          </a:xfrm>
          <a:prstGeom prst="rect">
            <a:avLst/>
          </a:prstGeom>
          <a:noFill/>
        </p:spPr>
        <p:txBody>
          <a:bodyPr wrap="square">
            <a:spAutoFit/>
          </a:bodyPr>
          <a:lstStyle/>
          <a:p>
            <a:pPr algn="ctr">
              <a:lnSpc>
                <a:spcPct val="107000"/>
              </a:lnSpc>
              <a:spcAft>
                <a:spcPts val="800"/>
              </a:spcAft>
            </a:pPr>
            <a:r>
              <a:rPr lang="en-GB" b="1" dirty="0"/>
              <a:t>IT CONSIST OF PROTOCOL SUCH AS:</a:t>
            </a:r>
            <a:endParaRPr lang="en-GB"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HTTPS</a:t>
            </a:r>
            <a:r>
              <a:rPr lang="en-GB" b="1" kern="100" dirty="0">
                <a:latin typeface="Calibri" panose="020F0502020204030204" pitchFamily="34" charset="0"/>
                <a:ea typeface="Calibri" panose="020F0502020204030204" pitchFamily="34" charset="0"/>
                <a:cs typeface="Times New Roman" panose="02020603050405020304" pitchFamily="18" charset="0"/>
              </a:rPr>
              <a:t>: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Port number:</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443 (TCP)</a:t>
            </a:r>
            <a:br>
              <a:rPr lang="en-GB" sz="1800" kern="100" dirty="0">
                <a:effectLst/>
                <a:latin typeface="Calibri" panose="020F0502020204030204" pitchFamily="34" charset="0"/>
                <a:ea typeface="Calibri" panose="020F0502020204030204" pitchFamily="34" charset="0"/>
                <a:cs typeface="Times New Roman" panose="02020603050405020304" pitchFamily="18" charset="0"/>
              </a:rPr>
            </a:b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Provides secure web browsing services through encrypted communication.</a:t>
            </a:r>
          </a:p>
          <a:p>
            <a:pPr marL="0" marR="0">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Telnet</a:t>
            </a:r>
            <a:r>
              <a:rPr lang="en-GB" b="1" kern="100" dirty="0">
                <a:latin typeface="Calibri" panose="020F0502020204030204" pitchFamily="34" charset="0"/>
                <a:ea typeface="Calibri" panose="020F0502020204030204" pitchFamily="34" charset="0"/>
                <a:cs typeface="Times New Roman" panose="02020603050405020304" pitchFamily="18" charset="0"/>
              </a:rPr>
              <a:t>: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Port number:</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23 (TCP)</a:t>
            </a:r>
            <a:br>
              <a:rPr lang="en-GB" sz="1800" kern="100" dirty="0">
                <a:effectLst/>
                <a:latin typeface="Calibri" panose="020F0502020204030204" pitchFamily="34" charset="0"/>
                <a:ea typeface="Calibri" panose="020F0502020204030204" pitchFamily="34" charset="0"/>
                <a:cs typeface="Times New Roman" panose="02020603050405020304" pitchFamily="18" charset="0"/>
              </a:rPr>
            </a:b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Provides remote management services.</a:t>
            </a:r>
          </a:p>
          <a:p>
            <a:pPr marL="0" marR="0">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FTP: Port numbers: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20 and 21 (TCP)</a:t>
            </a:r>
            <a:br>
              <a:rPr lang="en-GB" sz="1800" kern="100" dirty="0">
                <a:effectLst/>
                <a:latin typeface="Calibri" panose="020F0502020204030204" pitchFamily="34" charset="0"/>
                <a:ea typeface="Calibri" panose="020F0502020204030204" pitchFamily="34" charset="0"/>
                <a:cs typeface="Times New Roman" panose="02020603050405020304" pitchFamily="18" charset="0"/>
              </a:rPr>
            </a:b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Provides Internet file resource sharing services.</a:t>
            </a:r>
          </a:p>
          <a:p>
            <a:pPr marL="0" marR="0">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DNS</a:t>
            </a:r>
            <a:r>
              <a:rPr lang="en-GB" b="1" kern="100" dirty="0">
                <a:latin typeface="Calibri" panose="020F0502020204030204" pitchFamily="34" charset="0"/>
                <a:ea typeface="Calibri" panose="020F0502020204030204" pitchFamily="34" charset="0"/>
                <a:cs typeface="Times New Roman" panose="02020603050405020304" pitchFamily="18" charset="0"/>
              </a:rPr>
              <a:t>: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Port number:</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53 (UDP)</a:t>
            </a:r>
            <a:br>
              <a:rPr lang="en-GB" sz="1800" kern="100" dirty="0">
                <a:effectLst/>
                <a:latin typeface="Calibri" panose="020F0502020204030204" pitchFamily="34" charset="0"/>
                <a:ea typeface="Calibri" panose="020F0502020204030204" pitchFamily="34" charset="0"/>
                <a:cs typeface="Times New Roman" panose="02020603050405020304" pitchFamily="18" charset="0"/>
              </a:rPr>
            </a:b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Maps domain names to IP addresses.</a:t>
            </a:r>
          </a:p>
        </p:txBody>
      </p:sp>
      <p:sp>
        <p:nvSpPr>
          <p:cNvPr id="27" name="TextBox 26">
            <a:extLst>
              <a:ext uri="{FF2B5EF4-FFF2-40B4-BE49-F238E27FC236}">
                <a16:creationId xmlns:a16="http://schemas.microsoft.com/office/drawing/2014/main" id="{CF386C4E-D8E5-DC6A-CA46-2A3684DF7242}"/>
              </a:ext>
            </a:extLst>
          </p:cNvPr>
          <p:cNvSpPr txBox="1"/>
          <p:nvPr/>
        </p:nvSpPr>
        <p:spPr>
          <a:xfrm>
            <a:off x="5159155" y="4138571"/>
            <a:ext cx="1388522" cy="369332"/>
          </a:xfrm>
          <a:prstGeom prst="rect">
            <a:avLst/>
          </a:prstGeom>
          <a:noFill/>
        </p:spPr>
        <p:txBody>
          <a:bodyPr wrap="none" rtlCol="0">
            <a:spAutoFit/>
          </a:bodyPr>
          <a:lstStyle/>
          <a:p>
            <a:r>
              <a:rPr lang="en-US" b="1" u="sng" dirty="0"/>
              <a:t>OSI MAPING</a:t>
            </a:r>
            <a:endParaRPr lang="en-GB" b="1" u="sng" dirty="0"/>
          </a:p>
        </p:txBody>
      </p:sp>
    </p:spTree>
    <p:extLst>
      <p:ext uri="{BB962C8B-B14F-4D97-AF65-F5344CB8AC3E}">
        <p14:creationId xmlns:p14="http://schemas.microsoft.com/office/powerpoint/2010/main" val="904187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1356F-9637-0FF0-0A99-98383B3E25A3}"/>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3895803-678A-6EDA-9CDA-B0CE2B2B24E6}"/>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44F160E7-A3A3-083B-F119-2E05B2FE0ED2}"/>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05FF130A-C2C5-1F47-6558-AB7B07EC1AD5}"/>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4" name="TextBox 23">
            <a:extLst>
              <a:ext uri="{FF2B5EF4-FFF2-40B4-BE49-F238E27FC236}">
                <a16:creationId xmlns:a16="http://schemas.microsoft.com/office/drawing/2014/main" id="{4046A83A-767C-1B0F-DC08-BFE770C1FC15}"/>
              </a:ext>
            </a:extLst>
          </p:cNvPr>
          <p:cNvSpPr txBox="1"/>
          <p:nvPr/>
        </p:nvSpPr>
        <p:spPr>
          <a:xfrm>
            <a:off x="588840" y="129627"/>
            <a:ext cx="3926226" cy="461665"/>
          </a:xfrm>
          <a:prstGeom prst="rect">
            <a:avLst/>
          </a:prstGeom>
          <a:noFill/>
        </p:spPr>
        <p:txBody>
          <a:bodyPr wrap="square">
            <a:spAutoFit/>
          </a:bodyPr>
          <a:lstStyle/>
          <a:p>
            <a:r>
              <a:rPr lang="en-US" sz="2400" b="1" dirty="0">
                <a:ln>
                  <a:solidFill>
                    <a:schemeClr val="bg1"/>
                  </a:solidFill>
                </a:ln>
                <a:solidFill>
                  <a:schemeClr val="bg1"/>
                </a:solidFill>
                <a:cs typeface="Arial" panose="020B0604020202020204" pitchFamily="34" charset="0"/>
              </a:rPr>
              <a:t>CONTINUE ………..</a:t>
            </a:r>
            <a:endParaRPr lang="en-GB" sz="2400" b="1" dirty="0"/>
          </a:p>
        </p:txBody>
      </p:sp>
      <p:sp>
        <p:nvSpPr>
          <p:cNvPr id="2" name="Rectangle: Rounded Corners 1">
            <a:extLst>
              <a:ext uri="{FF2B5EF4-FFF2-40B4-BE49-F238E27FC236}">
                <a16:creationId xmlns:a16="http://schemas.microsoft.com/office/drawing/2014/main" id="{98B5B6E0-7570-836A-0348-DB8CB4415FAA}"/>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19" name="TextBox 18">
            <a:extLst>
              <a:ext uri="{FF2B5EF4-FFF2-40B4-BE49-F238E27FC236}">
                <a16:creationId xmlns:a16="http://schemas.microsoft.com/office/drawing/2014/main" id="{162CBCAC-47DE-0C6E-16E6-455EA4268826}"/>
              </a:ext>
            </a:extLst>
          </p:cNvPr>
          <p:cNvSpPr txBox="1"/>
          <p:nvPr/>
        </p:nvSpPr>
        <p:spPr>
          <a:xfrm>
            <a:off x="242815" y="740142"/>
            <a:ext cx="11706367" cy="2062552"/>
          </a:xfrm>
          <a:prstGeom prst="rect">
            <a:avLst/>
          </a:prstGeom>
          <a:noFill/>
        </p:spPr>
        <p:txBody>
          <a:bodyPr wrap="square">
            <a:spAutoFit/>
          </a:bodyPr>
          <a:lstStyle/>
          <a:p>
            <a:pPr marL="0" marR="0">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Common Application Layer Protocol: HTTPS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Hypertext Transfer Protocol Secure (HTTPS)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is the secure version of HTTP and is one of the most widely used protocols on the Internet. It is an application-layer communication protocol between a client browser (or other programs) and a web server. HTTPS uses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TLS/SSL encryption</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to protect the confidentiality, integrity, and authenticity of data exchanged between the client and the server.</a:t>
            </a: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HTTPS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is a typical application of the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Client/Server (C/S) architecture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23" name="Picture 22">
            <a:extLst>
              <a:ext uri="{FF2B5EF4-FFF2-40B4-BE49-F238E27FC236}">
                <a16:creationId xmlns:a16="http://schemas.microsoft.com/office/drawing/2014/main" id="{29468E22-0C85-97F2-FF96-FA1B019DC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759" y="3231513"/>
            <a:ext cx="6701229" cy="3226381"/>
          </a:xfrm>
          <a:prstGeom prst="rect">
            <a:avLst/>
          </a:prstGeom>
        </p:spPr>
      </p:pic>
    </p:spTree>
    <p:extLst>
      <p:ext uri="{BB962C8B-B14F-4D97-AF65-F5344CB8AC3E}">
        <p14:creationId xmlns:p14="http://schemas.microsoft.com/office/powerpoint/2010/main" val="399249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720C1-92ED-49F7-877E-4A88EB57B377}"/>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5A1CD618-EE2C-3329-F38C-B9A3EFADA6C4}"/>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0649F129-D47A-D549-8598-480C983E5457}"/>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FA357B20-E2A0-E300-F633-6879E02AD11F}"/>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4" name="TextBox 23">
            <a:extLst>
              <a:ext uri="{FF2B5EF4-FFF2-40B4-BE49-F238E27FC236}">
                <a16:creationId xmlns:a16="http://schemas.microsoft.com/office/drawing/2014/main" id="{9901BDDD-37A7-7047-679D-7B8074361153}"/>
              </a:ext>
            </a:extLst>
          </p:cNvPr>
          <p:cNvSpPr txBox="1"/>
          <p:nvPr/>
        </p:nvSpPr>
        <p:spPr>
          <a:xfrm>
            <a:off x="657437" y="141429"/>
            <a:ext cx="7331271" cy="461665"/>
          </a:xfrm>
          <a:prstGeom prst="rect">
            <a:avLst/>
          </a:prstGeom>
          <a:noFill/>
        </p:spPr>
        <p:txBody>
          <a:bodyPr wrap="square">
            <a:spAutoFit/>
          </a:bodyPr>
          <a:lstStyle/>
          <a:p>
            <a:r>
              <a:rPr lang="en-GB" sz="2400" b="1" dirty="0">
                <a:solidFill>
                  <a:schemeClr val="bg1"/>
                </a:solidFill>
              </a:rPr>
              <a:t>TRANSPORT LAYER – TCP Communication</a:t>
            </a:r>
          </a:p>
        </p:txBody>
      </p:sp>
      <p:sp>
        <p:nvSpPr>
          <p:cNvPr id="2" name="Rectangle: Rounded Corners 1">
            <a:extLst>
              <a:ext uri="{FF2B5EF4-FFF2-40B4-BE49-F238E27FC236}">
                <a16:creationId xmlns:a16="http://schemas.microsoft.com/office/drawing/2014/main" id="{45458EE4-2A22-AA52-282B-8BC649B56865}"/>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7" name="TextBox 6">
            <a:extLst>
              <a:ext uri="{FF2B5EF4-FFF2-40B4-BE49-F238E27FC236}">
                <a16:creationId xmlns:a16="http://schemas.microsoft.com/office/drawing/2014/main" id="{B7789EF4-0865-9256-3FAB-3770073E745E}"/>
              </a:ext>
            </a:extLst>
          </p:cNvPr>
          <p:cNvSpPr txBox="1"/>
          <p:nvPr/>
        </p:nvSpPr>
        <p:spPr>
          <a:xfrm>
            <a:off x="371900" y="665876"/>
            <a:ext cx="11515300" cy="1868781"/>
          </a:xfrm>
          <a:prstGeom prst="rect">
            <a:avLst/>
          </a:prstGeom>
          <a:noFill/>
        </p:spPr>
        <p:txBody>
          <a:bodyPr wrap="square">
            <a:spAutoFit/>
          </a:bodyPr>
          <a:lstStyle/>
          <a:p>
            <a:pPr marL="0" marR="0">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Transport Layer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marR="0" indent="-285750">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 transport layer protocol receives data from an application layer protocol, encapsulates the data with the corresponding transport layer protocol header, and helps establish an end-to-end (port-to-port) connection.</a:t>
            </a:r>
          </a:p>
          <a:p>
            <a:pPr marL="514350" marR="0" indent="-285750">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PDUs transmitted at the transport layer are called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segments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gn="ctr">
              <a:lnSpc>
                <a:spcPct val="107000"/>
              </a:lnSpc>
              <a:spcAft>
                <a:spcPts val="800"/>
              </a:spcAft>
            </a:pPr>
            <a:r>
              <a:rPr lang="en-GB" dirty="0"/>
              <a:t>.</a:t>
            </a:r>
          </a:p>
        </p:txBody>
      </p:sp>
      <p:pic>
        <p:nvPicPr>
          <p:cNvPr id="14" name="Picture 13">
            <a:extLst>
              <a:ext uri="{FF2B5EF4-FFF2-40B4-BE49-F238E27FC236}">
                <a16:creationId xmlns:a16="http://schemas.microsoft.com/office/drawing/2014/main" id="{748597AB-8758-B40A-20B0-244FE2484CD7}"/>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799390" y="5450558"/>
            <a:ext cx="10681262" cy="675153"/>
          </a:xfrm>
          <a:prstGeom prst="rect">
            <a:avLst/>
          </a:prstGeom>
        </p:spPr>
      </p:pic>
      <p:sp>
        <p:nvSpPr>
          <p:cNvPr id="15" name="TextBox 14">
            <a:extLst>
              <a:ext uri="{FF2B5EF4-FFF2-40B4-BE49-F238E27FC236}">
                <a16:creationId xmlns:a16="http://schemas.microsoft.com/office/drawing/2014/main" id="{F1CC9A15-8C62-3432-3854-BF43252D2CCC}"/>
              </a:ext>
            </a:extLst>
          </p:cNvPr>
          <p:cNvSpPr txBox="1"/>
          <p:nvPr/>
        </p:nvSpPr>
        <p:spPr>
          <a:xfrm>
            <a:off x="1116349" y="6054256"/>
            <a:ext cx="2388346" cy="369332"/>
          </a:xfrm>
          <a:prstGeom prst="rect">
            <a:avLst/>
          </a:prstGeom>
          <a:noFill/>
        </p:spPr>
        <p:txBody>
          <a:bodyPr wrap="none" rtlCol="0">
            <a:spAutoFit/>
          </a:bodyPr>
          <a:lstStyle/>
          <a:p>
            <a:r>
              <a:rPr lang="en-US" b="1" dirty="0"/>
              <a:t>Standard TCP/IP model</a:t>
            </a:r>
            <a:endParaRPr lang="en-GB" b="1" dirty="0"/>
          </a:p>
        </p:txBody>
      </p:sp>
      <p:sp>
        <p:nvSpPr>
          <p:cNvPr id="16" name="TextBox 15">
            <a:extLst>
              <a:ext uri="{FF2B5EF4-FFF2-40B4-BE49-F238E27FC236}">
                <a16:creationId xmlns:a16="http://schemas.microsoft.com/office/drawing/2014/main" id="{DA8E1DAF-6755-C133-F711-2EEF61C55277}"/>
              </a:ext>
            </a:extLst>
          </p:cNvPr>
          <p:cNvSpPr txBox="1"/>
          <p:nvPr/>
        </p:nvSpPr>
        <p:spPr>
          <a:xfrm>
            <a:off x="5555566" y="6044757"/>
            <a:ext cx="1168910" cy="369332"/>
          </a:xfrm>
          <a:prstGeom prst="rect">
            <a:avLst/>
          </a:prstGeom>
          <a:noFill/>
        </p:spPr>
        <p:txBody>
          <a:bodyPr wrap="none" rtlCol="0">
            <a:spAutoFit/>
          </a:bodyPr>
          <a:lstStyle/>
          <a:p>
            <a:r>
              <a:rPr lang="en-US" b="1" dirty="0"/>
              <a:t>OSI model</a:t>
            </a:r>
            <a:endParaRPr lang="en-GB" b="1" dirty="0"/>
          </a:p>
        </p:txBody>
      </p:sp>
      <p:sp>
        <p:nvSpPr>
          <p:cNvPr id="17" name="TextBox 16">
            <a:extLst>
              <a:ext uri="{FF2B5EF4-FFF2-40B4-BE49-F238E27FC236}">
                <a16:creationId xmlns:a16="http://schemas.microsoft.com/office/drawing/2014/main" id="{F9E6C991-B7DD-46AA-CA59-62DE629DD684}"/>
              </a:ext>
            </a:extLst>
          </p:cNvPr>
          <p:cNvSpPr txBox="1"/>
          <p:nvPr/>
        </p:nvSpPr>
        <p:spPr>
          <a:xfrm>
            <a:off x="8582024" y="6044757"/>
            <a:ext cx="2581669" cy="369332"/>
          </a:xfrm>
          <a:prstGeom prst="rect">
            <a:avLst/>
          </a:prstGeom>
          <a:noFill/>
        </p:spPr>
        <p:txBody>
          <a:bodyPr wrap="none" rtlCol="0">
            <a:spAutoFit/>
          </a:bodyPr>
          <a:lstStyle/>
          <a:p>
            <a:r>
              <a:rPr lang="en-US" b="1" dirty="0"/>
              <a:t>Equivalent  TCP/IP model</a:t>
            </a:r>
            <a:endParaRPr lang="en-GB" b="1" dirty="0"/>
          </a:p>
        </p:txBody>
      </p:sp>
      <p:sp>
        <p:nvSpPr>
          <p:cNvPr id="22" name="TextBox 21">
            <a:extLst>
              <a:ext uri="{FF2B5EF4-FFF2-40B4-BE49-F238E27FC236}">
                <a16:creationId xmlns:a16="http://schemas.microsoft.com/office/drawing/2014/main" id="{E49FEC4B-6E3A-62D6-377A-90E34C88D194}"/>
              </a:ext>
            </a:extLst>
          </p:cNvPr>
          <p:cNvSpPr txBox="1"/>
          <p:nvPr/>
        </p:nvSpPr>
        <p:spPr>
          <a:xfrm>
            <a:off x="464653" y="2105275"/>
            <a:ext cx="11515299" cy="3375283"/>
          </a:xfrm>
          <a:prstGeom prst="rect">
            <a:avLst/>
          </a:prstGeom>
          <a:noFill/>
        </p:spPr>
        <p:txBody>
          <a:bodyPr wrap="square">
            <a:spAutoFit/>
          </a:bodyPr>
          <a:lstStyle/>
          <a:p>
            <a:pPr marL="0" marR="0">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Transmission Control Protocol (TCP)</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Aft>
                <a:spcPts val="8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Characteristics: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 connection is established before communication. During transmission, TCP ensures no data loss, no duplication, no errors, and in-order delivery.</a:t>
            </a:r>
          </a:p>
          <a:p>
            <a:pPr marL="342900" marR="0" lvl="0" indent="-342900">
              <a:spcAft>
                <a:spcPts val="8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Application scenarios: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Web browsing, file transfer, email, and other data transmission services demanding high data integrity.</a:t>
            </a:r>
          </a:p>
          <a:p>
            <a:pPr marL="0" marR="0">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User Datagram Protocol (UDP)</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Aft>
                <a:spcPts val="8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Characteristics: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Data packets are directly sent without establishing a connection. UDP does not ensure reliability but has extremely low overhead and latency.</a:t>
            </a:r>
          </a:p>
          <a:p>
            <a:pPr marL="342900" marR="0" lvl="0" indent="-342900">
              <a:spcAft>
                <a:spcPts val="8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Application scenarios: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Video calls, online gaming, DNS queries, and other data transmission services that demand low latency while tolerating a small amount of packet loss.</a:t>
            </a:r>
          </a:p>
        </p:txBody>
      </p:sp>
      <p:sp>
        <p:nvSpPr>
          <p:cNvPr id="23" name="TextBox 22">
            <a:extLst>
              <a:ext uri="{FF2B5EF4-FFF2-40B4-BE49-F238E27FC236}">
                <a16:creationId xmlns:a16="http://schemas.microsoft.com/office/drawing/2014/main" id="{66270656-211F-6EB6-653C-F7A6102B61DD}"/>
              </a:ext>
            </a:extLst>
          </p:cNvPr>
          <p:cNvSpPr txBox="1"/>
          <p:nvPr/>
        </p:nvSpPr>
        <p:spPr>
          <a:xfrm>
            <a:off x="6494114" y="5133129"/>
            <a:ext cx="1388522" cy="369332"/>
          </a:xfrm>
          <a:prstGeom prst="rect">
            <a:avLst/>
          </a:prstGeom>
          <a:noFill/>
        </p:spPr>
        <p:txBody>
          <a:bodyPr wrap="none" rtlCol="0">
            <a:spAutoFit/>
          </a:bodyPr>
          <a:lstStyle/>
          <a:p>
            <a:r>
              <a:rPr lang="en-US" b="1" u="sng" dirty="0"/>
              <a:t>OSI MAPING</a:t>
            </a:r>
            <a:endParaRPr lang="en-GB" b="1" u="sng" dirty="0"/>
          </a:p>
        </p:txBody>
      </p:sp>
    </p:spTree>
    <p:extLst>
      <p:ext uri="{BB962C8B-B14F-4D97-AF65-F5344CB8AC3E}">
        <p14:creationId xmlns:p14="http://schemas.microsoft.com/office/powerpoint/2010/main" val="2641300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E54DA-FE34-E8C8-8B85-665C1D5A914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77959D2E-DD3E-9349-6F74-56CD7E6CF662}"/>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1208A17B-079C-88F8-3E3E-D3A83A2701F2}"/>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535409B6-F737-FE59-50B5-95A26CBC937B}"/>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 name="Rectangle: Rounded Corners 1">
            <a:extLst>
              <a:ext uri="{FF2B5EF4-FFF2-40B4-BE49-F238E27FC236}">
                <a16:creationId xmlns:a16="http://schemas.microsoft.com/office/drawing/2014/main" id="{44CB3165-ED88-0ED5-EB1E-137126DD894C}"/>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pic>
        <p:nvPicPr>
          <p:cNvPr id="6" name="Picture 5">
            <a:extLst>
              <a:ext uri="{FF2B5EF4-FFF2-40B4-BE49-F238E27FC236}">
                <a16:creationId xmlns:a16="http://schemas.microsoft.com/office/drawing/2014/main" id="{F2AC4CE1-ED11-977F-D21E-1B30F979F16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saturation sat="400000"/>
                    </a14:imgEffect>
                  </a14:imgLayer>
                </a14:imgProps>
              </a:ext>
              <a:ext uri="{28A0092B-C50C-407E-A947-70E740481C1C}">
                <a14:useLocalDpi xmlns:a14="http://schemas.microsoft.com/office/drawing/2010/main" val="0"/>
              </a:ext>
            </a:extLst>
          </a:blip>
          <a:srcRect b="10983"/>
          <a:stretch>
            <a:fillRect/>
          </a:stretch>
        </p:blipFill>
        <p:spPr>
          <a:xfrm>
            <a:off x="3725106" y="3486411"/>
            <a:ext cx="8286611" cy="2881510"/>
          </a:xfrm>
          <a:prstGeom prst="rect">
            <a:avLst/>
          </a:prstGeom>
        </p:spPr>
      </p:pic>
      <p:pic>
        <p:nvPicPr>
          <p:cNvPr id="18" name="Picture 17">
            <a:extLst>
              <a:ext uri="{FF2B5EF4-FFF2-40B4-BE49-F238E27FC236}">
                <a16:creationId xmlns:a16="http://schemas.microsoft.com/office/drawing/2014/main" id="{A7AA8DED-58FA-D3E8-8406-AECD439A2D2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saturation sat="400000"/>
                    </a14:imgEffect>
                  </a14:imgLayer>
                </a14:imgProps>
              </a:ext>
            </a:extLst>
          </a:blip>
          <a:stretch>
            <a:fillRect/>
          </a:stretch>
        </p:blipFill>
        <p:spPr>
          <a:xfrm>
            <a:off x="3946304" y="952282"/>
            <a:ext cx="7844213" cy="1896034"/>
          </a:xfrm>
          <a:prstGeom prst="rect">
            <a:avLst/>
          </a:prstGeom>
        </p:spPr>
      </p:pic>
      <p:sp>
        <p:nvSpPr>
          <p:cNvPr id="7" name="TextBox 6">
            <a:extLst>
              <a:ext uri="{FF2B5EF4-FFF2-40B4-BE49-F238E27FC236}">
                <a16:creationId xmlns:a16="http://schemas.microsoft.com/office/drawing/2014/main" id="{CFF86707-EB6F-02CD-1C91-163D1207A390}"/>
              </a:ext>
            </a:extLst>
          </p:cNvPr>
          <p:cNvSpPr txBox="1"/>
          <p:nvPr/>
        </p:nvSpPr>
        <p:spPr>
          <a:xfrm>
            <a:off x="6095999" y="756452"/>
            <a:ext cx="3905599" cy="369332"/>
          </a:xfrm>
          <a:prstGeom prst="rect">
            <a:avLst/>
          </a:prstGeom>
          <a:noFill/>
        </p:spPr>
        <p:txBody>
          <a:bodyPr wrap="square" rtlCol="0">
            <a:spAutoFit/>
          </a:bodyPr>
          <a:lstStyle/>
          <a:p>
            <a:r>
              <a:rPr lang="en-US" b="1" dirty="0"/>
              <a:t>Data Encapsulation at the Sender </a:t>
            </a:r>
            <a:endParaRPr lang="en-GB" b="1" dirty="0"/>
          </a:p>
        </p:txBody>
      </p:sp>
      <p:sp>
        <p:nvSpPr>
          <p:cNvPr id="10" name="TextBox 9">
            <a:extLst>
              <a:ext uri="{FF2B5EF4-FFF2-40B4-BE49-F238E27FC236}">
                <a16:creationId xmlns:a16="http://schemas.microsoft.com/office/drawing/2014/main" id="{9F04B34B-CE51-5006-4D74-855434C0F59B}"/>
              </a:ext>
            </a:extLst>
          </p:cNvPr>
          <p:cNvSpPr txBox="1"/>
          <p:nvPr/>
        </p:nvSpPr>
        <p:spPr>
          <a:xfrm>
            <a:off x="180283" y="1451074"/>
            <a:ext cx="3544823" cy="4729821"/>
          </a:xfrm>
          <a:prstGeom prst="rect">
            <a:avLst/>
          </a:prstGeom>
          <a:noFill/>
        </p:spPr>
        <p:txBody>
          <a:bodyPr wrap="square">
            <a:spAutoFit/>
          </a:bodyPr>
          <a:lstStyle/>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Generally, the source port used by a client is randomly allocated, and the destination port is specified by the application of a server.</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system generally selects a source port number that is greater than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1023</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is not being used.</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destination port number is the listening port of the application (service) enabled on the server. For example, a web server using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HTTPS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typically listens on port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443</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13" name="TextBox 12">
            <a:extLst>
              <a:ext uri="{FF2B5EF4-FFF2-40B4-BE49-F238E27FC236}">
                <a16:creationId xmlns:a16="http://schemas.microsoft.com/office/drawing/2014/main" id="{D197CE26-A775-A355-F065-DE257FF9BE88}"/>
              </a:ext>
            </a:extLst>
          </p:cNvPr>
          <p:cNvSpPr txBox="1"/>
          <p:nvPr/>
        </p:nvSpPr>
        <p:spPr>
          <a:xfrm>
            <a:off x="6514096" y="3072093"/>
            <a:ext cx="3905599" cy="369332"/>
          </a:xfrm>
          <a:prstGeom prst="rect">
            <a:avLst/>
          </a:prstGeom>
          <a:noFill/>
        </p:spPr>
        <p:txBody>
          <a:bodyPr wrap="square" rtlCol="0">
            <a:spAutoFit/>
          </a:bodyPr>
          <a:lstStyle/>
          <a:p>
            <a:r>
              <a:rPr lang="en-US" b="1" dirty="0"/>
              <a:t>TCP – Port Number</a:t>
            </a:r>
            <a:endParaRPr lang="en-GB" b="1" dirty="0"/>
          </a:p>
        </p:txBody>
      </p:sp>
      <p:sp>
        <p:nvSpPr>
          <p:cNvPr id="14" name="TextBox 13">
            <a:extLst>
              <a:ext uri="{FF2B5EF4-FFF2-40B4-BE49-F238E27FC236}">
                <a16:creationId xmlns:a16="http://schemas.microsoft.com/office/drawing/2014/main" id="{69C03F09-6123-14EE-EED9-15A07921C7F7}"/>
              </a:ext>
            </a:extLst>
          </p:cNvPr>
          <p:cNvSpPr txBox="1"/>
          <p:nvPr/>
        </p:nvSpPr>
        <p:spPr>
          <a:xfrm>
            <a:off x="588840" y="129627"/>
            <a:ext cx="3926226" cy="461665"/>
          </a:xfrm>
          <a:prstGeom prst="rect">
            <a:avLst/>
          </a:prstGeom>
          <a:noFill/>
        </p:spPr>
        <p:txBody>
          <a:bodyPr wrap="square">
            <a:spAutoFit/>
          </a:bodyPr>
          <a:lstStyle/>
          <a:p>
            <a:r>
              <a:rPr lang="en-US" sz="2400" b="1" dirty="0">
                <a:ln>
                  <a:solidFill>
                    <a:schemeClr val="bg1"/>
                  </a:solidFill>
                </a:ln>
                <a:solidFill>
                  <a:schemeClr val="bg1"/>
                </a:solidFill>
                <a:cs typeface="Arial" panose="020B0604020202020204" pitchFamily="34" charset="0"/>
              </a:rPr>
              <a:t>CONTINUE ………..</a:t>
            </a:r>
            <a:endParaRPr lang="en-GB" sz="2400" b="1" dirty="0"/>
          </a:p>
        </p:txBody>
      </p:sp>
    </p:spTree>
    <p:extLst>
      <p:ext uri="{BB962C8B-B14F-4D97-AF65-F5344CB8AC3E}">
        <p14:creationId xmlns:p14="http://schemas.microsoft.com/office/powerpoint/2010/main" val="4146505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C51C0-07D4-50E6-E4D3-70AAFAE0131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0F74528E-CD80-3C0F-E072-349700495CB3}"/>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084CCD2F-2B09-D668-3FAB-1498F7D68EAD}"/>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D52C2086-0481-9A16-BE52-F2425F912E5D}"/>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4" name="TextBox 23">
            <a:extLst>
              <a:ext uri="{FF2B5EF4-FFF2-40B4-BE49-F238E27FC236}">
                <a16:creationId xmlns:a16="http://schemas.microsoft.com/office/drawing/2014/main" id="{A43883C9-74EE-5354-1376-B54D00907F54}"/>
              </a:ext>
            </a:extLst>
          </p:cNvPr>
          <p:cNvSpPr txBox="1"/>
          <p:nvPr/>
        </p:nvSpPr>
        <p:spPr>
          <a:xfrm>
            <a:off x="588840" y="129627"/>
            <a:ext cx="3926226" cy="461665"/>
          </a:xfrm>
          <a:prstGeom prst="rect">
            <a:avLst/>
          </a:prstGeom>
          <a:noFill/>
        </p:spPr>
        <p:txBody>
          <a:bodyPr wrap="square">
            <a:spAutoFit/>
          </a:bodyPr>
          <a:lstStyle/>
          <a:p>
            <a:r>
              <a:rPr lang="en-GB" sz="2400" b="1" dirty="0">
                <a:solidFill>
                  <a:schemeClr val="bg1"/>
                </a:solidFill>
              </a:rPr>
              <a:t>Network Layer: IP Addressing</a:t>
            </a:r>
            <a:endParaRPr lang="en-GB" sz="2400" dirty="0">
              <a:solidFill>
                <a:schemeClr val="bg1"/>
              </a:solidFill>
            </a:endParaRPr>
          </a:p>
        </p:txBody>
      </p:sp>
      <p:sp>
        <p:nvSpPr>
          <p:cNvPr id="2" name="Rectangle: Rounded Corners 1">
            <a:extLst>
              <a:ext uri="{FF2B5EF4-FFF2-40B4-BE49-F238E27FC236}">
                <a16:creationId xmlns:a16="http://schemas.microsoft.com/office/drawing/2014/main" id="{E67E78DC-9EC0-2EA2-B6BE-3C2277318EC9}"/>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7" name="TextBox 6">
            <a:extLst>
              <a:ext uri="{FF2B5EF4-FFF2-40B4-BE49-F238E27FC236}">
                <a16:creationId xmlns:a16="http://schemas.microsoft.com/office/drawing/2014/main" id="{EBF44996-AC82-BBC1-71A4-72F826785C02}"/>
              </a:ext>
            </a:extLst>
          </p:cNvPr>
          <p:cNvSpPr txBox="1"/>
          <p:nvPr/>
        </p:nvSpPr>
        <p:spPr>
          <a:xfrm>
            <a:off x="330957" y="889107"/>
            <a:ext cx="11406117" cy="1467966"/>
          </a:xfrm>
          <a:prstGeom prst="rect">
            <a:avLst/>
          </a:prstGeom>
          <a:noFill/>
        </p:spPr>
        <p:txBody>
          <a:bodyPr wrap="square">
            <a:spAutoFit/>
          </a:bodyPr>
          <a:lstStyle/>
          <a:p>
            <a:pPr marL="0" marR="0">
              <a:lnSpc>
                <a:spcPct val="107000"/>
              </a:lnSpc>
              <a:spcAft>
                <a:spcPts val="800"/>
              </a:spcAft>
              <a:buNone/>
            </a:pPr>
            <a:r>
              <a:rPr lang="en-GB" sz="1800" b="1" kern="100" dirty="0">
                <a:effectLst/>
                <a:latin typeface="Segoe UI Emoji" panose="020B0502040204020203" pitchFamily="34" charset="0"/>
                <a:ea typeface="Calibri" panose="020F0502020204030204" pitchFamily="34" charset="0"/>
                <a:cs typeface="Segoe UI Emoji" panose="020B0502040204020203" pitchFamily="34" charset="0"/>
              </a:rPr>
              <a:t>Network Layer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Segoe UI Emoji" panose="020B0502040204020203" pitchFamily="34" charset="0"/>
                <a:ea typeface="Calibri" panose="020F0502020204030204" pitchFamily="34" charset="0"/>
                <a:cs typeface="Segoe UI Emoji" panose="020B0502040204020203" pitchFamily="34" charset="0"/>
              </a:rPr>
              <a:t>The transport layer is responsible for establishing connections between processes on hosts, and the network layer is responsible for transmitting data from one host to another.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Segoe UI Emoji" panose="020B0502040204020203" pitchFamily="34" charset="0"/>
                <a:ea typeface="Calibri" panose="020F0502020204030204" pitchFamily="34" charset="0"/>
                <a:cs typeface="Segoe UI Emoji" panose="020B0502040204020203" pitchFamily="34" charset="0"/>
              </a:rPr>
              <a:t>PDUs transmitted at the network layer are called packets.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478DC119-2351-C7D5-B9F1-B068C6783EFD}"/>
              </a:ext>
            </a:extLst>
          </p:cNvPr>
          <p:cNvSpPr txBox="1"/>
          <p:nvPr/>
        </p:nvSpPr>
        <p:spPr>
          <a:xfrm>
            <a:off x="399198" y="2436109"/>
            <a:ext cx="8690211" cy="1971374"/>
          </a:xfrm>
          <a:prstGeom prst="rect">
            <a:avLst/>
          </a:prstGeom>
          <a:noFill/>
        </p:spPr>
        <p:txBody>
          <a:bodyPr wrap="square">
            <a:spAutoFit/>
          </a:bodyPr>
          <a:lstStyle/>
          <a:p>
            <a:pPr marL="0" marR="0">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Functions of the network layer:</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Provides logical addresses for network devices.</a:t>
            </a: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Routes and forwards data packets.</a:t>
            </a: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Common network layer protocols include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IPv4</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IPv6</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ICMP</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IGMP</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14" name="Picture 13">
            <a:extLst>
              <a:ext uri="{FF2B5EF4-FFF2-40B4-BE49-F238E27FC236}">
                <a16:creationId xmlns:a16="http://schemas.microsoft.com/office/drawing/2014/main" id="{9E3C3D91-4EA0-02E5-673A-6CC4DC1FC696}"/>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578124" y="4962974"/>
            <a:ext cx="11123793" cy="703125"/>
          </a:xfrm>
          <a:prstGeom prst="rect">
            <a:avLst/>
          </a:prstGeom>
        </p:spPr>
      </p:pic>
      <p:sp>
        <p:nvSpPr>
          <p:cNvPr id="15" name="TextBox 14">
            <a:extLst>
              <a:ext uri="{FF2B5EF4-FFF2-40B4-BE49-F238E27FC236}">
                <a16:creationId xmlns:a16="http://schemas.microsoft.com/office/drawing/2014/main" id="{FEE5BAA9-825E-F711-1CA1-779DF0B145F2}"/>
              </a:ext>
            </a:extLst>
          </p:cNvPr>
          <p:cNvSpPr txBox="1"/>
          <p:nvPr/>
        </p:nvSpPr>
        <p:spPr>
          <a:xfrm>
            <a:off x="1116349" y="5631176"/>
            <a:ext cx="2388346" cy="369332"/>
          </a:xfrm>
          <a:prstGeom prst="rect">
            <a:avLst/>
          </a:prstGeom>
          <a:noFill/>
        </p:spPr>
        <p:txBody>
          <a:bodyPr wrap="none" rtlCol="0">
            <a:spAutoFit/>
          </a:bodyPr>
          <a:lstStyle/>
          <a:p>
            <a:r>
              <a:rPr lang="en-US" b="1" dirty="0"/>
              <a:t>Standard TCP/IP model</a:t>
            </a:r>
            <a:endParaRPr lang="en-GB" b="1" dirty="0"/>
          </a:p>
        </p:txBody>
      </p:sp>
      <p:sp>
        <p:nvSpPr>
          <p:cNvPr id="16" name="TextBox 15">
            <a:extLst>
              <a:ext uri="{FF2B5EF4-FFF2-40B4-BE49-F238E27FC236}">
                <a16:creationId xmlns:a16="http://schemas.microsoft.com/office/drawing/2014/main" id="{113AC708-14B3-04BE-6824-BF98ECE8749F}"/>
              </a:ext>
            </a:extLst>
          </p:cNvPr>
          <p:cNvSpPr txBox="1"/>
          <p:nvPr/>
        </p:nvSpPr>
        <p:spPr>
          <a:xfrm>
            <a:off x="5555566" y="5621677"/>
            <a:ext cx="1168910" cy="369332"/>
          </a:xfrm>
          <a:prstGeom prst="rect">
            <a:avLst/>
          </a:prstGeom>
          <a:noFill/>
        </p:spPr>
        <p:txBody>
          <a:bodyPr wrap="none" rtlCol="0">
            <a:spAutoFit/>
          </a:bodyPr>
          <a:lstStyle/>
          <a:p>
            <a:r>
              <a:rPr lang="en-US" b="1" dirty="0"/>
              <a:t>OSI model</a:t>
            </a:r>
            <a:endParaRPr lang="en-GB" b="1" dirty="0"/>
          </a:p>
        </p:txBody>
      </p:sp>
      <p:sp>
        <p:nvSpPr>
          <p:cNvPr id="17" name="TextBox 16">
            <a:extLst>
              <a:ext uri="{FF2B5EF4-FFF2-40B4-BE49-F238E27FC236}">
                <a16:creationId xmlns:a16="http://schemas.microsoft.com/office/drawing/2014/main" id="{7BA022CB-F84A-9F0E-00D2-4E4051E46B8F}"/>
              </a:ext>
            </a:extLst>
          </p:cNvPr>
          <p:cNvSpPr txBox="1"/>
          <p:nvPr/>
        </p:nvSpPr>
        <p:spPr>
          <a:xfrm>
            <a:off x="8582024" y="5621677"/>
            <a:ext cx="2581669" cy="369332"/>
          </a:xfrm>
          <a:prstGeom prst="rect">
            <a:avLst/>
          </a:prstGeom>
          <a:noFill/>
        </p:spPr>
        <p:txBody>
          <a:bodyPr wrap="none" rtlCol="0">
            <a:spAutoFit/>
          </a:bodyPr>
          <a:lstStyle/>
          <a:p>
            <a:r>
              <a:rPr lang="en-US" b="1" dirty="0"/>
              <a:t>Equivalent  TCP/IP model</a:t>
            </a:r>
            <a:endParaRPr lang="en-GB" b="1" dirty="0"/>
          </a:p>
        </p:txBody>
      </p:sp>
      <p:sp>
        <p:nvSpPr>
          <p:cNvPr id="18" name="TextBox 17">
            <a:extLst>
              <a:ext uri="{FF2B5EF4-FFF2-40B4-BE49-F238E27FC236}">
                <a16:creationId xmlns:a16="http://schemas.microsoft.com/office/drawing/2014/main" id="{F5881CE3-64B4-0FD1-AB44-9CD211DCB66C}"/>
              </a:ext>
            </a:extLst>
          </p:cNvPr>
          <p:cNvSpPr txBox="1"/>
          <p:nvPr/>
        </p:nvSpPr>
        <p:spPr>
          <a:xfrm>
            <a:off x="5401738" y="4486519"/>
            <a:ext cx="1388522" cy="369332"/>
          </a:xfrm>
          <a:prstGeom prst="rect">
            <a:avLst/>
          </a:prstGeom>
          <a:noFill/>
        </p:spPr>
        <p:txBody>
          <a:bodyPr wrap="none" rtlCol="0">
            <a:spAutoFit/>
          </a:bodyPr>
          <a:lstStyle/>
          <a:p>
            <a:r>
              <a:rPr lang="en-US" b="1" u="sng" dirty="0"/>
              <a:t>OSI MAPING</a:t>
            </a:r>
            <a:endParaRPr lang="en-GB" b="1" u="sng" dirty="0"/>
          </a:p>
        </p:txBody>
      </p:sp>
    </p:spTree>
    <p:extLst>
      <p:ext uri="{BB962C8B-B14F-4D97-AF65-F5344CB8AC3E}">
        <p14:creationId xmlns:p14="http://schemas.microsoft.com/office/powerpoint/2010/main" val="2359967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A0C94-34F5-82FB-C514-4F88C9961C1E}"/>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3DA182C9-161D-A42B-6F32-34FCD44B7C69}"/>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43F9084B-EB2C-5207-C175-E0749BA4C410}"/>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7170287C-3CA6-F9B4-7096-DADAFE0446B1}"/>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 name="Rectangle: Rounded Corners 1">
            <a:extLst>
              <a:ext uri="{FF2B5EF4-FFF2-40B4-BE49-F238E27FC236}">
                <a16:creationId xmlns:a16="http://schemas.microsoft.com/office/drawing/2014/main" id="{4EBB26B7-9D0E-3677-ECFD-74BA770E7D18}"/>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pic>
        <p:nvPicPr>
          <p:cNvPr id="4" name="Picture 3">
            <a:extLst>
              <a:ext uri="{FF2B5EF4-FFF2-40B4-BE49-F238E27FC236}">
                <a16:creationId xmlns:a16="http://schemas.microsoft.com/office/drawing/2014/main" id="{99847B43-BD8B-4DC3-A645-4A10BCA7259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saturation sat="400000"/>
                    </a14:imgEffect>
                  </a14:imgLayer>
                </a14:imgProps>
              </a:ext>
            </a:extLst>
          </a:blip>
          <a:stretch>
            <a:fillRect/>
          </a:stretch>
        </p:blipFill>
        <p:spPr>
          <a:xfrm>
            <a:off x="5107585" y="814486"/>
            <a:ext cx="7012794" cy="2114261"/>
          </a:xfrm>
          <a:prstGeom prst="rect">
            <a:avLst/>
          </a:prstGeom>
        </p:spPr>
      </p:pic>
      <p:sp>
        <p:nvSpPr>
          <p:cNvPr id="5" name="TextBox 4">
            <a:extLst>
              <a:ext uri="{FF2B5EF4-FFF2-40B4-BE49-F238E27FC236}">
                <a16:creationId xmlns:a16="http://schemas.microsoft.com/office/drawing/2014/main" id="{FCB7326E-CF06-ED43-6AC8-EDB10255D3B2}"/>
              </a:ext>
            </a:extLst>
          </p:cNvPr>
          <p:cNvSpPr txBox="1"/>
          <p:nvPr/>
        </p:nvSpPr>
        <p:spPr>
          <a:xfrm>
            <a:off x="6873920" y="654751"/>
            <a:ext cx="3905599" cy="369332"/>
          </a:xfrm>
          <a:prstGeom prst="rect">
            <a:avLst/>
          </a:prstGeom>
          <a:noFill/>
        </p:spPr>
        <p:txBody>
          <a:bodyPr wrap="square" rtlCol="0">
            <a:spAutoFit/>
          </a:bodyPr>
          <a:lstStyle/>
          <a:p>
            <a:pPr algn="ctr"/>
            <a:r>
              <a:rPr lang="en-US" b="1" dirty="0"/>
              <a:t>Data Encapsulation at the Sender </a:t>
            </a:r>
            <a:endParaRPr lang="en-GB" b="1" dirty="0"/>
          </a:p>
        </p:txBody>
      </p:sp>
      <p:pic>
        <p:nvPicPr>
          <p:cNvPr id="7" name="Picture 6">
            <a:extLst>
              <a:ext uri="{FF2B5EF4-FFF2-40B4-BE49-F238E27FC236}">
                <a16:creationId xmlns:a16="http://schemas.microsoft.com/office/drawing/2014/main" id="{4846BC9E-4DA0-7D89-9576-843CDAE3CE7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saturation sat="400000"/>
                    </a14:imgEffect>
                  </a14:imgLayer>
                </a14:imgProps>
              </a:ext>
              <a:ext uri="{28A0092B-C50C-407E-A947-70E740481C1C}">
                <a14:useLocalDpi xmlns:a14="http://schemas.microsoft.com/office/drawing/2010/main" val="0"/>
              </a:ext>
            </a:extLst>
          </a:blip>
          <a:srcRect l="10075"/>
          <a:stretch>
            <a:fillRect/>
          </a:stretch>
        </p:blipFill>
        <p:spPr>
          <a:xfrm>
            <a:off x="4993696" y="3742079"/>
            <a:ext cx="7012795" cy="2322622"/>
          </a:xfrm>
          <a:prstGeom prst="rect">
            <a:avLst/>
          </a:prstGeom>
        </p:spPr>
      </p:pic>
      <p:sp>
        <p:nvSpPr>
          <p:cNvPr id="10" name="TextBox 9">
            <a:extLst>
              <a:ext uri="{FF2B5EF4-FFF2-40B4-BE49-F238E27FC236}">
                <a16:creationId xmlns:a16="http://schemas.microsoft.com/office/drawing/2014/main" id="{42C2EA89-1B0A-DB42-08F7-B8C2CE70C1D1}"/>
              </a:ext>
            </a:extLst>
          </p:cNvPr>
          <p:cNvSpPr txBox="1"/>
          <p:nvPr/>
        </p:nvSpPr>
        <p:spPr>
          <a:xfrm>
            <a:off x="468293" y="1228987"/>
            <a:ext cx="4292341" cy="5026184"/>
          </a:xfrm>
          <a:prstGeom prst="rect">
            <a:avLst/>
          </a:prstGeom>
          <a:noFill/>
        </p:spPr>
        <p:txBody>
          <a:bodyPr wrap="square">
            <a:spAutoFit/>
          </a:bodyPr>
          <a:lstStyle/>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network layer header of a packet sent by a source device carries the network layer addresses of the source and destination devices.</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Each network device (such as a router) that has the routing function maintains 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routing table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(like a map of the network device).</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After receiving a packet, the network device reads the network layer destination address of the packet, searches the routing table for the matching entry of the destination address, and forwards the packet according to the instruction of the matching entry.</a:t>
            </a:r>
          </a:p>
        </p:txBody>
      </p:sp>
      <p:sp>
        <p:nvSpPr>
          <p:cNvPr id="13" name="TextBox 12">
            <a:extLst>
              <a:ext uri="{FF2B5EF4-FFF2-40B4-BE49-F238E27FC236}">
                <a16:creationId xmlns:a16="http://schemas.microsoft.com/office/drawing/2014/main" id="{B4D1D466-C7C2-E18D-4C29-74DB5B8044E7}"/>
              </a:ext>
            </a:extLst>
          </p:cNvPr>
          <p:cNvSpPr txBox="1"/>
          <p:nvPr/>
        </p:nvSpPr>
        <p:spPr>
          <a:xfrm>
            <a:off x="4831307" y="4907234"/>
            <a:ext cx="1765804" cy="307777"/>
          </a:xfrm>
          <a:prstGeom prst="rect">
            <a:avLst/>
          </a:prstGeom>
          <a:noFill/>
        </p:spPr>
        <p:txBody>
          <a:bodyPr wrap="none" rtlCol="0">
            <a:spAutoFit/>
          </a:bodyPr>
          <a:lstStyle/>
          <a:p>
            <a:r>
              <a:rPr lang="en-US" sz="1400" dirty="0"/>
              <a:t>Source Ip 192.168.0.2</a:t>
            </a:r>
            <a:endParaRPr lang="en-GB" sz="1400" dirty="0"/>
          </a:p>
        </p:txBody>
      </p:sp>
      <p:sp>
        <p:nvSpPr>
          <p:cNvPr id="14" name="TextBox 13">
            <a:extLst>
              <a:ext uri="{FF2B5EF4-FFF2-40B4-BE49-F238E27FC236}">
                <a16:creationId xmlns:a16="http://schemas.microsoft.com/office/drawing/2014/main" id="{1970B5CA-0949-5BE1-B9AD-1AEDE8A689D1}"/>
              </a:ext>
            </a:extLst>
          </p:cNvPr>
          <p:cNvSpPr txBox="1"/>
          <p:nvPr/>
        </p:nvSpPr>
        <p:spPr>
          <a:xfrm>
            <a:off x="9986836" y="6048755"/>
            <a:ext cx="1928285" cy="307777"/>
          </a:xfrm>
          <a:prstGeom prst="rect">
            <a:avLst/>
          </a:prstGeom>
          <a:noFill/>
        </p:spPr>
        <p:txBody>
          <a:bodyPr wrap="none" rtlCol="0">
            <a:spAutoFit/>
          </a:bodyPr>
          <a:lstStyle/>
          <a:p>
            <a:r>
              <a:rPr lang="en-US" sz="1400" dirty="0"/>
              <a:t>Destination IP 122.3.3.1</a:t>
            </a:r>
            <a:endParaRPr lang="en-GB" sz="1400" dirty="0"/>
          </a:p>
        </p:txBody>
      </p:sp>
      <p:sp>
        <p:nvSpPr>
          <p:cNvPr id="15" name="TextBox 14">
            <a:extLst>
              <a:ext uri="{FF2B5EF4-FFF2-40B4-BE49-F238E27FC236}">
                <a16:creationId xmlns:a16="http://schemas.microsoft.com/office/drawing/2014/main" id="{DBD4DAAF-CF47-82B4-4F6E-F32A85173AC6}"/>
              </a:ext>
            </a:extLst>
          </p:cNvPr>
          <p:cNvSpPr txBox="1"/>
          <p:nvPr/>
        </p:nvSpPr>
        <p:spPr>
          <a:xfrm>
            <a:off x="588840" y="129627"/>
            <a:ext cx="3926226" cy="461665"/>
          </a:xfrm>
          <a:prstGeom prst="rect">
            <a:avLst/>
          </a:prstGeom>
          <a:noFill/>
        </p:spPr>
        <p:txBody>
          <a:bodyPr wrap="square">
            <a:spAutoFit/>
          </a:bodyPr>
          <a:lstStyle/>
          <a:p>
            <a:r>
              <a:rPr lang="en-US" sz="2400" b="1" dirty="0">
                <a:ln>
                  <a:solidFill>
                    <a:schemeClr val="bg1"/>
                  </a:solidFill>
                </a:ln>
                <a:solidFill>
                  <a:schemeClr val="bg1"/>
                </a:solidFill>
                <a:cs typeface="Arial" panose="020B0604020202020204" pitchFamily="34" charset="0"/>
              </a:rPr>
              <a:t>CONTINUE ………..</a:t>
            </a:r>
            <a:endParaRPr lang="en-GB" sz="2400" b="1" dirty="0"/>
          </a:p>
        </p:txBody>
      </p:sp>
    </p:spTree>
    <p:extLst>
      <p:ext uri="{BB962C8B-B14F-4D97-AF65-F5344CB8AC3E}">
        <p14:creationId xmlns:p14="http://schemas.microsoft.com/office/powerpoint/2010/main" val="270872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3A00-6AC4-53E4-49C1-9DC8D23976F7}"/>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20D91DD-297D-74A1-ADAE-800A1CB89E14}"/>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9C284F00-A215-A0F8-BF06-1B69F07B0D1C}"/>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409564FD-BBBC-1FF8-B72D-4FA94E02CBB6}"/>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4" name="TextBox 23">
            <a:extLst>
              <a:ext uri="{FF2B5EF4-FFF2-40B4-BE49-F238E27FC236}">
                <a16:creationId xmlns:a16="http://schemas.microsoft.com/office/drawing/2014/main" id="{C569BE0E-5F2A-BD40-A37B-E7FE16A3DF6D}"/>
              </a:ext>
            </a:extLst>
          </p:cNvPr>
          <p:cNvSpPr txBox="1"/>
          <p:nvPr/>
        </p:nvSpPr>
        <p:spPr>
          <a:xfrm>
            <a:off x="657437" y="129627"/>
            <a:ext cx="7299208" cy="461665"/>
          </a:xfrm>
          <a:prstGeom prst="rect">
            <a:avLst/>
          </a:prstGeom>
          <a:noFill/>
        </p:spPr>
        <p:txBody>
          <a:bodyPr wrap="square">
            <a:spAutoFit/>
          </a:bodyPr>
          <a:lstStyle/>
          <a:p>
            <a:r>
              <a:rPr lang="en-GB" sz="2400" b="1" dirty="0">
                <a:solidFill>
                  <a:schemeClr val="bg1"/>
                </a:solidFill>
              </a:rPr>
              <a:t>Data-Link Layer: Frames and MAC Address</a:t>
            </a:r>
          </a:p>
        </p:txBody>
      </p:sp>
      <p:sp>
        <p:nvSpPr>
          <p:cNvPr id="2" name="Rectangle: Rounded Corners 1">
            <a:extLst>
              <a:ext uri="{FF2B5EF4-FFF2-40B4-BE49-F238E27FC236}">
                <a16:creationId xmlns:a16="http://schemas.microsoft.com/office/drawing/2014/main" id="{CC887038-661E-89CF-2D32-C81B587CFDD5}"/>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7" name="TextBox 6">
            <a:extLst>
              <a:ext uri="{FF2B5EF4-FFF2-40B4-BE49-F238E27FC236}">
                <a16:creationId xmlns:a16="http://schemas.microsoft.com/office/drawing/2014/main" id="{47327D90-44DC-438B-F830-A34F5AC7742D}"/>
              </a:ext>
            </a:extLst>
          </p:cNvPr>
          <p:cNvSpPr txBox="1"/>
          <p:nvPr/>
        </p:nvSpPr>
        <p:spPr>
          <a:xfrm>
            <a:off x="317170" y="798278"/>
            <a:ext cx="11133521" cy="1469826"/>
          </a:xfrm>
          <a:prstGeom prst="rect">
            <a:avLst/>
          </a:prstGeom>
          <a:noFill/>
        </p:spPr>
        <p:txBody>
          <a:bodyPr wrap="square">
            <a:spAutoFit/>
          </a:bodyPr>
          <a:lstStyle/>
          <a:p>
            <a:pPr marL="0" marR="0" algn="just">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Data Link Layer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data link layer is located between the network layer and the physical layer and provides services for protocols such as IP and IPv6 at the network layer. PDUs transmitted at the data link layer are called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frames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Ethernet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is the most common data link layer protocol.</a:t>
            </a:r>
          </a:p>
        </p:txBody>
      </p:sp>
      <p:sp>
        <p:nvSpPr>
          <p:cNvPr id="10" name="TextBox 9">
            <a:extLst>
              <a:ext uri="{FF2B5EF4-FFF2-40B4-BE49-F238E27FC236}">
                <a16:creationId xmlns:a16="http://schemas.microsoft.com/office/drawing/2014/main" id="{E15B239A-F2FC-0C4C-489E-F2088D0D9BF0}"/>
              </a:ext>
            </a:extLst>
          </p:cNvPr>
          <p:cNvSpPr txBox="1"/>
          <p:nvPr/>
        </p:nvSpPr>
        <p:spPr>
          <a:xfrm>
            <a:off x="317170" y="2444311"/>
            <a:ext cx="5461272" cy="2757871"/>
          </a:xfrm>
          <a:prstGeom prst="rect">
            <a:avLst/>
          </a:prstGeom>
          <a:noFill/>
        </p:spPr>
        <p:txBody>
          <a:bodyPr wrap="square">
            <a:spAutoFit/>
          </a:bodyPr>
          <a:lstStyle/>
          <a:p>
            <a:pPr marL="0" marR="0" algn="just">
              <a:lnSpc>
                <a:spcPct val="107000"/>
              </a:lnSpc>
              <a:spcAft>
                <a:spcPts val="800"/>
              </a:spcAft>
              <a:buNone/>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data link layer is located between the network layer and the physical layer.</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data link layer provides intra-segment communication for the network layer.</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functions of the data link layer include framing, physical addressing, and error control.</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Common data link layer protocols include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Ethernet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kern="100" dirty="0" err="1">
                <a:effectLst/>
                <a:latin typeface="Calibri" panose="020F0502020204030204" pitchFamily="34" charset="0"/>
                <a:ea typeface="Calibri" panose="020F0502020204030204" pitchFamily="34" charset="0"/>
                <a:cs typeface="Times New Roman" panose="02020603050405020304" pitchFamily="18" charset="0"/>
              </a:rPr>
              <a:t>PPPoE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PPP</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6" name="Picture 15">
            <a:extLst>
              <a:ext uri="{FF2B5EF4-FFF2-40B4-BE49-F238E27FC236}">
                <a16:creationId xmlns:a16="http://schemas.microsoft.com/office/drawing/2014/main" id="{0CEFAF16-8004-6EAB-52EE-0834E9A053D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829744" y="5159728"/>
            <a:ext cx="9897396" cy="1022190"/>
          </a:xfrm>
          <a:prstGeom prst="rect">
            <a:avLst/>
          </a:prstGeom>
        </p:spPr>
      </p:pic>
      <p:sp>
        <p:nvSpPr>
          <p:cNvPr id="17" name="TextBox 16">
            <a:extLst>
              <a:ext uri="{FF2B5EF4-FFF2-40B4-BE49-F238E27FC236}">
                <a16:creationId xmlns:a16="http://schemas.microsoft.com/office/drawing/2014/main" id="{E4FFEA8B-805C-2BEA-173A-87AE3E69267C}"/>
              </a:ext>
            </a:extLst>
          </p:cNvPr>
          <p:cNvSpPr txBox="1"/>
          <p:nvPr/>
        </p:nvSpPr>
        <p:spPr>
          <a:xfrm>
            <a:off x="952576" y="6114651"/>
            <a:ext cx="2388346" cy="369332"/>
          </a:xfrm>
          <a:prstGeom prst="rect">
            <a:avLst/>
          </a:prstGeom>
          <a:noFill/>
        </p:spPr>
        <p:txBody>
          <a:bodyPr wrap="none" rtlCol="0">
            <a:spAutoFit/>
          </a:bodyPr>
          <a:lstStyle/>
          <a:p>
            <a:r>
              <a:rPr lang="en-US" b="1" dirty="0"/>
              <a:t>Standard TCP/IP model</a:t>
            </a:r>
            <a:endParaRPr lang="en-GB" b="1" dirty="0"/>
          </a:p>
        </p:txBody>
      </p:sp>
      <p:sp>
        <p:nvSpPr>
          <p:cNvPr id="18" name="TextBox 17">
            <a:extLst>
              <a:ext uri="{FF2B5EF4-FFF2-40B4-BE49-F238E27FC236}">
                <a16:creationId xmlns:a16="http://schemas.microsoft.com/office/drawing/2014/main" id="{D333E9F6-E0EA-308A-95CD-16980A5F0A73}"/>
              </a:ext>
            </a:extLst>
          </p:cNvPr>
          <p:cNvSpPr txBox="1"/>
          <p:nvPr/>
        </p:nvSpPr>
        <p:spPr>
          <a:xfrm>
            <a:off x="5391793" y="6105152"/>
            <a:ext cx="1168910" cy="369332"/>
          </a:xfrm>
          <a:prstGeom prst="rect">
            <a:avLst/>
          </a:prstGeom>
          <a:noFill/>
        </p:spPr>
        <p:txBody>
          <a:bodyPr wrap="none" rtlCol="0">
            <a:spAutoFit/>
          </a:bodyPr>
          <a:lstStyle/>
          <a:p>
            <a:r>
              <a:rPr lang="en-US" b="1" dirty="0"/>
              <a:t>OSI model</a:t>
            </a:r>
            <a:endParaRPr lang="en-GB" b="1" dirty="0"/>
          </a:p>
        </p:txBody>
      </p:sp>
      <p:sp>
        <p:nvSpPr>
          <p:cNvPr id="19" name="TextBox 18">
            <a:extLst>
              <a:ext uri="{FF2B5EF4-FFF2-40B4-BE49-F238E27FC236}">
                <a16:creationId xmlns:a16="http://schemas.microsoft.com/office/drawing/2014/main" id="{769B1921-68BC-302F-4AC3-C5492F64A327}"/>
              </a:ext>
            </a:extLst>
          </p:cNvPr>
          <p:cNvSpPr txBox="1"/>
          <p:nvPr/>
        </p:nvSpPr>
        <p:spPr>
          <a:xfrm>
            <a:off x="8418251" y="6105152"/>
            <a:ext cx="2581669" cy="369332"/>
          </a:xfrm>
          <a:prstGeom prst="rect">
            <a:avLst/>
          </a:prstGeom>
          <a:noFill/>
        </p:spPr>
        <p:txBody>
          <a:bodyPr wrap="none" rtlCol="0">
            <a:spAutoFit/>
          </a:bodyPr>
          <a:lstStyle/>
          <a:p>
            <a:r>
              <a:rPr lang="en-US" b="1" dirty="0"/>
              <a:t>Equivalent  TCP/IP model</a:t>
            </a:r>
            <a:endParaRPr lang="en-GB" b="1" dirty="0"/>
          </a:p>
        </p:txBody>
      </p:sp>
      <p:pic>
        <p:nvPicPr>
          <p:cNvPr id="21" name="Picture 20">
            <a:extLst>
              <a:ext uri="{FF2B5EF4-FFF2-40B4-BE49-F238E27FC236}">
                <a16:creationId xmlns:a16="http://schemas.microsoft.com/office/drawing/2014/main" id="{EB2ECDE3-98D9-549D-FC2B-4D41CBC7842A}"/>
              </a:ext>
            </a:extLst>
          </p:cNvPr>
          <p:cNvPicPr>
            <a:picLocks noChangeAspect="1"/>
          </p:cNvPicPr>
          <p:nvPr/>
        </p:nvPicPr>
        <p:blipFill>
          <a:blip r:embed="rId4">
            <a:extLst>
              <a:ext uri="{28A0092B-C50C-407E-A947-70E740481C1C}">
                <a14:useLocalDpi xmlns:a14="http://schemas.microsoft.com/office/drawing/2010/main" val="0"/>
              </a:ext>
            </a:extLst>
          </a:blip>
          <a:srcRect b="17560"/>
          <a:stretch>
            <a:fillRect/>
          </a:stretch>
        </p:blipFill>
        <p:spPr>
          <a:xfrm>
            <a:off x="5778442" y="2500176"/>
            <a:ext cx="6211125" cy="2427480"/>
          </a:xfrm>
          <a:prstGeom prst="rect">
            <a:avLst/>
          </a:prstGeom>
        </p:spPr>
      </p:pic>
      <p:sp>
        <p:nvSpPr>
          <p:cNvPr id="22" name="TextBox 21">
            <a:extLst>
              <a:ext uri="{FF2B5EF4-FFF2-40B4-BE49-F238E27FC236}">
                <a16:creationId xmlns:a16="http://schemas.microsoft.com/office/drawing/2014/main" id="{6358C9D0-35E6-30C1-CDD6-7DB329F78CB4}"/>
              </a:ext>
            </a:extLst>
          </p:cNvPr>
          <p:cNvSpPr txBox="1"/>
          <p:nvPr/>
        </p:nvSpPr>
        <p:spPr>
          <a:xfrm>
            <a:off x="7136609" y="2297128"/>
            <a:ext cx="3905599" cy="369332"/>
          </a:xfrm>
          <a:prstGeom prst="rect">
            <a:avLst/>
          </a:prstGeom>
          <a:noFill/>
        </p:spPr>
        <p:txBody>
          <a:bodyPr wrap="square" rtlCol="0">
            <a:spAutoFit/>
          </a:bodyPr>
          <a:lstStyle/>
          <a:p>
            <a:pPr algn="ctr"/>
            <a:r>
              <a:rPr lang="en-US" b="1" dirty="0"/>
              <a:t>Data Encapsulation at the Sender </a:t>
            </a:r>
            <a:endParaRPr lang="en-GB" b="1" dirty="0"/>
          </a:p>
        </p:txBody>
      </p:sp>
      <p:sp>
        <p:nvSpPr>
          <p:cNvPr id="23" name="TextBox 22">
            <a:extLst>
              <a:ext uri="{FF2B5EF4-FFF2-40B4-BE49-F238E27FC236}">
                <a16:creationId xmlns:a16="http://schemas.microsoft.com/office/drawing/2014/main" id="{CF9D66C4-A96B-FABF-86C0-F57D930238DE}"/>
              </a:ext>
            </a:extLst>
          </p:cNvPr>
          <p:cNvSpPr txBox="1"/>
          <p:nvPr/>
        </p:nvSpPr>
        <p:spPr>
          <a:xfrm>
            <a:off x="5220571" y="4832850"/>
            <a:ext cx="1388522" cy="369332"/>
          </a:xfrm>
          <a:prstGeom prst="rect">
            <a:avLst/>
          </a:prstGeom>
          <a:noFill/>
        </p:spPr>
        <p:txBody>
          <a:bodyPr wrap="none" rtlCol="0">
            <a:spAutoFit/>
          </a:bodyPr>
          <a:lstStyle/>
          <a:p>
            <a:r>
              <a:rPr lang="en-US" b="1" u="sng" dirty="0"/>
              <a:t>OSI MAPING</a:t>
            </a:r>
            <a:endParaRPr lang="en-GB" b="1" u="sng" dirty="0"/>
          </a:p>
        </p:txBody>
      </p:sp>
    </p:spTree>
    <p:extLst>
      <p:ext uri="{BB962C8B-B14F-4D97-AF65-F5344CB8AC3E}">
        <p14:creationId xmlns:p14="http://schemas.microsoft.com/office/powerpoint/2010/main" val="3303106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EE8C3-47FD-E341-9427-1847FE1EF16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DD9C7DCE-82BB-DE7B-2933-E1727A5E801E}"/>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0FBE0B00-DC46-4651-28AF-DAB13E223EC0}"/>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9C29C591-6023-3418-B251-F3DA9DB259AC}"/>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 name="Rectangle: Rounded Corners 1">
            <a:extLst>
              <a:ext uri="{FF2B5EF4-FFF2-40B4-BE49-F238E27FC236}">
                <a16:creationId xmlns:a16="http://schemas.microsoft.com/office/drawing/2014/main" id="{6B1EC3A5-094A-8B60-51F1-A5768DEC069D}"/>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pic>
        <p:nvPicPr>
          <p:cNvPr id="14" name="Picture 13">
            <a:extLst>
              <a:ext uri="{FF2B5EF4-FFF2-40B4-BE49-F238E27FC236}">
                <a16:creationId xmlns:a16="http://schemas.microsoft.com/office/drawing/2014/main" id="{A31B92DD-89EA-0BAC-E449-806B9BD9B56C}"/>
              </a:ext>
            </a:extLst>
          </p:cNvPr>
          <p:cNvPicPr>
            <a:picLocks noChangeAspect="1"/>
          </p:cNvPicPr>
          <p:nvPr/>
        </p:nvPicPr>
        <p:blipFill>
          <a:blip r:embed="rId2"/>
          <a:stretch>
            <a:fillRect/>
          </a:stretch>
        </p:blipFill>
        <p:spPr>
          <a:xfrm>
            <a:off x="8413201" y="650601"/>
            <a:ext cx="3218737" cy="2111841"/>
          </a:xfrm>
          <a:prstGeom prst="rect">
            <a:avLst/>
          </a:prstGeom>
        </p:spPr>
      </p:pic>
      <p:sp>
        <p:nvSpPr>
          <p:cNvPr id="4" name="TextBox 3">
            <a:extLst>
              <a:ext uri="{FF2B5EF4-FFF2-40B4-BE49-F238E27FC236}">
                <a16:creationId xmlns:a16="http://schemas.microsoft.com/office/drawing/2014/main" id="{0EFA8C85-14FF-C10F-C564-859C05CC320B}"/>
              </a:ext>
            </a:extLst>
          </p:cNvPr>
          <p:cNvSpPr txBox="1"/>
          <p:nvPr/>
        </p:nvSpPr>
        <p:spPr>
          <a:xfrm>
            <a:off x="290014" y="884703"/>
            <a:ext cx="7912290" cy="2062552"/>
          </a:xfrm>
          <a:prstGeom prst="rect">
            <a:avLst/>
          </a:prstGeom>
          <a:noFill/>
        </p:spPr>
        <p:txBody>
          <a:bodyPr wrap="square">
            <a:spAutoFit/>
          </a:bodyPr>
          <a:lstStyle/>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Media Access Control (MAC)</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address uniquely identifies 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Network Interface Card (NIC)</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on a network. Each NIC requires and has a unique MAC address.</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MAC addresses are used to locate specific physical devices in an IP network segment.</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 device that works at the data link layer, such as an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Ethernet switch</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maintains 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MAC address table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to guide data frame forwarding.</a:t>
            </a:r>
          </a:p>
        </p:txBody>
      </p:sp>
      <p:sp>
        <p:nvSpPr>
          <p:cNvPr id="9" name="TextBox 8">
            <a:extLst>
              <a:ext uri="{FF2B5EF4-FFF2-40B4-BE49-F238E27FC236}">
                <a16:creationId xmlns:a16="http://schemas.microsoft.com/office/drawing/2014/main" id="{94FB5862-DF13-44C4-F7E1-235306CBE50F}"/>
              </a:ext>
            </a:extLst>
          </p:cNvPr>
          <p:cNvSpPr txBox="1"/>
          <p:nvPr/>
        </p:nvSpPr>
        <p:spPr>
          <a:xfrm>
            <a:off x="290014" y="3056493"/>
            <a:ext cx="8123187" cy="1173463"/>
          </a:xfrm>
          <a:prstGeom prst="rect">
            <a:avLst/>
          </a:prstGeom>
          <a:noFill/>
        </p:spPr>
        <p:txBody>
          <a:bodyPr wrap="square">
            <a:spAutoFit/>
          </a:bodyPr>
          <a:lstStyle/>
          <a:p>
            <a:pPr marL="0" marR="0">
              <a:lnSpc>
                <a:spcPct val="107000"/>
              </a:lnSpc>
              <a:spcAft>
                <a:spcPts val="800"/>
              </a:spcAft>
              <a:buNone/>
            </a:pPr>
            <a:r>
              <a:rPr lang="en-GB" b="1" kern="100" dirty="0">
                <a:effectLst/>
                <a:latin typeface="Calibri" panose="020F0502020204030204" pitchFamily="34" charset="0"/>
                <a:ea typeface="Calibri" panose="020F0502020204030204" pitchFamily="34" charset="0"/>
                <a:cs typeface="Times New Roman" panose="02020603050405020304" pitchFamily="18" charset="0"/>
              </a:rPr>
              <a:t>               ARP</a:t>
            </a:r>
            <a:endParaRPr lang="en-GB"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GB" b="1" kern="100" dirty="0">
                <a:effectLst/>
                <a:latin typeface="Calibri" panose="020F0502020204030204" pitchFamily="34" charset="0"/>
                <a:ea typeface="Calibri" panose="020F0502020204030204" pitchFamily="34" charset="0"/>
                <a:cs typeface="Times New Roman" panose="02020603050405020304" pitchFamily="18" charset="0"/>
              </a:rPr>
              <a:t>Address Resolution Protocol (ARP):</a:t>
            </a:r>
            <a:r>
              <a:rPr lang="en-GB" kern="100" dirty="0">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lnSpc>
                <a:spcPct val="107000"/>
              </a:lnSpc>
              <a:spcAft>
                <a:spcPts val="800"/>
              </a:spcAft>
              <a:buSzPts val="1000"/>
              <a:buFont typeface="Courier New" panose="02070309020205020404" pitchFamily="49" charset="0"/>
              <a:buChar char="o"/>
              <a:tabLst>
                <a:tab pos="914400" algn="l"/>
              </a:tabLst>
            </a:pPr>
            <a:r>
              <a:rPr lang="en-GB" kern="100" dirty="0">
                <a:effectLst/>
                <a:latin typeface="Calibri" panose="020F0502020204030204" pitchFamily="34" charset="0"/>
                <a:ea typeface="Calibri" panose="020F0502020204030204" pitchFamily="34" charset="0"/>
                <a:cs typeface="Times New Roman" panose="02020603050405020304" pitchFamily="18" charset="0"/>
              </a:rPr>
              <a:t>Discovers the </a:t>
            </a:r>
            <a:r>
              <a:rPr lang="en-GB" b="1" kern="100" dirty="0">
                <a:effectLst/>
                <a:latin typeface="Calibri" panose="020F0502020204030204" pitchFamily="34" charset="0"/>
                <a:ea typeface="Calibri" panose="020F0502020204030204" pitchFamily="34" charset="0"/>
                <a:cs typeface="Times New Roman" panose="02020603050405020304" pitchFamily="18" charset="0"/>
              </a:rPr>
              <a:t>MAC address</a:t>
            </a:r>
            <a:r>
              <a:rPr lang="en-GB" kern="100" dirty="0">
                <a:effectLst/>
                <a:latin typeface="Calibri" panose="020F0502020204030204" pitchFamily="34" charset="0"/>
                <a:ea typeface="Calibri" panose="020F0502020204030204" pitchFamily="34" charset="0"/>
                <a:cs typeface="Times New Roman" panose="02020603050405020304" pitchFamily="18" charset="0"/>
              </a:rPr>
              <a:t> associated with a given </a:t>
            </a:r>
            <a:r>
              <a:rPr lang="en-GB" b="1" kern="100" dirty="0">
                <a:effectLst/>
                <a:latin typeface="Calibri" panose="020F0502020204030204" pitchFamily="34" charset="0"/>
                <a:ea typeface="Calibri" panose="020F0502020204030204" pitchFamily="34" charset="0"/>
                <a:cs typeface="Times New Roman" panose="02020603050405020304" pitchFamily="18" charset="0"/>
              </a:rPr>
              <a:t>IP address</a:t>
            </a:r>
            <a:r>
              <a:rPr lang="en-GB"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15" name="TextBox 14">
            <a:extLst>
              <a:ext uri="{FF2B5EF4-FFF2-40B4-BE49-F238E27FC236}">
                <a16:creationId xmlns:a16="http://schemas.microsoft.com/office/drawing/2014/main" id="{D28F9621-DCE1-F790-5534-898597C53297}"/>
              </a:ext>
            </a:extLst>
          </p:cNvPr>
          <p:cNvSpPr txBox="1"/>
          <p:nvPr/>
        </p:nvSpPr>
        <p:spPr>
          <a:xfrm>
            <a:off x="8413201" y="2650208"/>
            <a:ext cx="3218737" cy="1856919"/>
          </a:xfrm>
          <a:prstGeom prst="rect">
            <a:avLst/>
          </a:prstGeom>
          <a:noFill/>
        </p:spPr>
        <p:txBody>
          <a:bodyPr wrap="square">
            <a:spAutoFit/>
          </a:bodyPr>
          <a:lstStyle/>
          <a:p>
            <a:pPr marL="0" marR="0" algn="just">
              <a:spcAft>
                <a:spcPts val="800"/>
              </a:spcAft>
              <a:buNone/>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MAC address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is recognizable as six groups of two hexadecimal digits, separated by hyphens, colons, or written without a separator.</a:t>
            </a:r>
          </a:p>
          <a:p>
            <a:pPr marL="0" marR="0" algn="just">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Example: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48-A4-72-1C-8F-4F</a:t>
            </a:r>
          </a:p>
        </p:txBody>
      </p:sp>
      <p:pic>
        <p:nvPicPr>
          <p:cNvPr id="17" name="Picture 16">
            <a:extLst>
              <a:ext uri="{FF2B5EF4-FFF2-40B4-BE49-F238E27FC236}">
                <a16:creationId xmlns:a16="http://schemas.microsoft.com/office/drawing/2014/main" id="{7C6A963B-751D-2CDE-F463-2D8E0219D70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32605" y="4420528"/>
            <a:ext cx="9503465" cy="2037366"/>
          </a:xfrm>
          <a:prstGeom prst="rect">
            <a:avLst/>
          </a:prstGeom>
        </p:spPr>
      </p:pic>
      <p:sp>
        <p:nvSpPr>
          <p:cNvPr id="18" name="TextBox 17">
            <a:extLst>
              <a:ext uri="{FF2B5EF4-FFF2-40B4-BE49-F238E27FC236}">
                <a16:creationId xmlns:a16="http://schemas.microsoft.com/office/drawing/2014/main" id="{C0462694-F5AE-5BE9-C21E-46D14FE734E3}"/>
              </a:ext>
            </a:extLst>
          </p:cNvPr>
          <p:cNvSpPr txBox="1"/>
          <p:nvPr/>
        </p:nvSpPr>
        <p:spPr>
          <a:xfrm>
            <a:off x="588840" y="129627"/>
            <a:ext cx="3926226" cy="461665"/>
          </a:xfrm>
          <a:prstGeom prst="rect">
            <a:avLst/>
          </a:prstGeom>
          <a:noFill/>
        </p:spPr>
        <p:txBody>
          <a:bodyPr wrap="square">
            <a:spAutoFit/>
          </a:bodyPr>
          <a:lstStyle/>
          <a:p>
            <a:r>
              <a:rPr lang="en-US" sz="2400" b="1" dirty="0">
                <a:ln>
                  <a:solidFill>
                    <a:schemeClr val="bg1"/>
                  </a:solidFill>
                </a:ln>
                <a:solidFill>
                  <a:schemeClr val="bg1"/>
                </a:solidFill>
                <a:cs typeface="Arial" panose="020B0604020202020204" pitchFamily="34" charset="0"/>
              </a:rPr>
              <a:t>CONTINUE ………..</a:t>
            </a:r>
            <a:endParaRPr lang="en-GB" sz="2400" b="1" dirty="0"/>
          </a:p>
        </p:txBody>
      </p:sp>
    </p:spTree>
    <p:extLst>
      <p:ext uri="{BB962C8B-B14F-4D97-AF65-F5344CB8AC3E}">
        <p14:creationId xmlns:p14="http://schemas.microsoft.com/office/powerpoint/2010/main" val="3691886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B65C2-590D-0B05-1B35-16CBA6C2373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038CAC37-292B-BE25-FA90-A3AB26157DF5}"/>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217C823F-45EC-AC27-9526-69A1A966235C}"/>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1700C529-5CBA-6E9E-43EF-0C78EF80591C}"/>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4" name="TextBox 23">
            <a:extLst>
              <a:ext uri="{FF2B5EF4-FFF2-40B4-BE49-F238E27FC236}">
                <a16:creationId xmlns:a16="http://schemas.microsoft.com/office/drawing/2014/main" id="{98B5ADA7-5CFA-0250-3E75-0C96D61083FB}"/>
              </a:ext>
            </a:extLst>
          </p:cNvPr>
          <p:cNvSpPr txBox="1"/>
          <p:nvPr/>
        </p:nvSpPr>
        <p:spPr>
          <a:xfrm>
            <a:off x="588840" y="129627"/>
            <a:ext cx="3926226" cy="461665"/>
          </a:xfrm>
          <a:prstGeom prst="rect">
            <a:avLst/>
          </a:prstGeom>
          <a:noFill/>
        </p:spPr>
        <p:txBody>
          <a:bodyPr wrap="square">
            <a:spAutoFit/>
          </a:bodyPr>
          <a:lstStyle/>
          <a:p>
            <a:r>
              <a:rPr lang="en-GB" sz="2400" b="1" dirty="0">
                <a:solidFill>
                  <a:schemeClr val="bg1"/>
                </a:solidFill>
              </a:rPr>
              <a:t>Physical Layer: Bits &amp; Signals</a:t>
            </a:r>
          </a:p>
        </p:txBody>
      </p:sp>
      <p:sp>
        <p:nvSpPr>
          <p:cNvPr id="2" name="Rectangle: Rounded Corners 1">
            <a:extLst>
              <a:ext uri="{FF2B5EF4-FFF2-40B4-BE49-F238E27FC236}">
                <a16:creationId xmlns:a16="http://schemas.microsoft.com/office/drawing/2014/main" id="{73250197-0D2D-0EEC-5E35-EF6DE95133BD}"/>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4" name="TextBox 3">
            <a:extLst>
              <a:ext uri="{FF2B5EF4-FFF2-40B4-BE49-F238E27FC236}">
                <a16:creationId xmlns:a16="http://schemas.microsoft.com/office/drawing/2014/main" id="{21878AC2-B7D9-631C-E337-88FC904FFA35}"/>
              </a:ext>
            </a:extLst>
          </p:cNvPr>
          <p:cNvSpPr txBox="1"/>
          <p:nvPr/>
        </p:nvSpPr>
        <p:spPr>
          <a:xfrm>
            <a:off x="468293" y="773721"/>
            <a:ext cx="4923501" cy="2655279"/>
          </a:xfrm>
          <a:prstGeom prst="rect">
            <a:avLst/>
          </a:prstGeom>
          <a:noFill/>
        </p:spPr>
        <p:txBody>
          <a:bodyPr wrap="square">
            <a:spAutoFit/>
          </a:bodyPr>
          <a:lstStyle/>
          <a:p>
            <a:pPr marL="0" marR="0" algn="just">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Physical Layer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After data arrives at the physical layer, the physical layer converts a digital signal into an optical signal, an electrical signal, or an electromagnetic wave signal based on the physical media.</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PDUs transmitted at the physical layer are called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bitstreams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7" name="Picture 6">
            <a:extLst>
              <a:ext uri="{FF2B5EF4-FFF2-40B4-BE49-F238E27FC236}">
                <a16:creationId xmlns:a16="http://schemas.microsoft.com/office/drawing/2014/main" id="{62D6ABAA-932E-67CE-0ABC-A620E41858F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829744" y="5159728"/>
            <a:ext cx="9897396" cy="1022190"/>
          </a:xfrm>
          <a:prstGeom prst="rect">
            <a:avLst/>
          </a:prstGeom>
        </p:spPr>
      </p:pic>
      <p:sp>
        <p:nvSpPr>
          <p:cNvPr id="9" name="TextBox 8">
            <a:extLst>
              <a:ext uri="{FF2B5EF4-FFF2-40B4-BE49-F238E27FC236}">
                <a16:creationId xmlns:a16="http://schemas.microsoft.com/office/drawing/2014/main" id="{EB65A4ED-9B9D-7A92-C024-277766C5CD66}"/>
              </a:ext>
            </a:extLst>
          </p:cNvPr>
          <p:cNvSpPr txBox="1"/>
          <p:nvPr/>
        </p:nvSpPr>
        <p:spPr>
          <a:xfrm>
            <a:off x="952576" y="6114651"/>
            <a:ext cx="2388346" cy="369332"/>
          </a:xfrm>
          <a:prstGeom prst="rect">
            <a:avLst/>
          </a:prstGeom>
          <a:noFill/>
        </p:spPr>
        <p:txBody>
          <a:bodyPr wrap="none" rtlCol="0">
            <a:spAutoFit/>
          </a:bodyPr>
          <a:lstStyle/>
          <a:p>
            <a:r>
              <a:rPr lang="en-US" b="1" dirty="0"/>
              <a:t>Standard TCP/IP model</a:t>
            </a:r>
            <a:endParaRPr lang="en-GB" b="1" dirty="0"/>
          </a:p>
        </p:txBody>
      </p:sp>
      <p:sp>
        <p:nvSpPr>
          <p:cNvPr id="10" name="TextBox 9">
            <a:extLst>
              <a:ext uri="{FF2B5EF4-FFF2-40B4-BE49-F238E27FC236}">
                <a16:creationId xmlns:a16="http://schemas.microsoft.com/office/drawing/2014/main" id="{35BA8231-56FE-871A-769B-AC7287A4ADC6}"/>
              </a:ext>
            </a:extLst>
          </p:cNvPr>
          <p:cNvSpPr txBox="1"/>
          <p:nvPr/>
        </p:nvSpPr>
        <p:spPr>
          <a:xfrm>
            <a:off x="5391793" y="6105152"/>
            <a:ext cx="1168910" cy="369332"/>
          </a:xfrm>
          <a:prstGeom prst="rect">
            <a:avLst/>
          </a:prstGeom>
          <a:noFill/>
        </p:spPr>
        <p:txBody>
          <a:bodyPr wrap="none" rtlCol="0">
            <a:spAutoFit/>
          </a:bodyPr>
          <a:lstStyle/>
          <a:p>
            <a:r>
              <a:rPr lang="en-US" b="1" dirty="0"/>
              <a:t>OSI model</a:t>
            </a:r>
            <a:endParaRPr lang="en-GB" b="1" dirty="0"/>
          </a:p>
        </p:txBody>
      </p:sp>
      <p:sp>
        <p:nvSpPr>
          <p:cNvPr id="13" name="TextBox 12">
            <a:extLst>
              <a:ext uri="{FF2B5EF4-FFF2-40B4-BE49-F238E27FC236}">
                <a16:creationId xmlns:a16="http://schemas.microsoft.com/office/drawing/2014/main" id="{152049E5-EA22-F6A2-87E2-6FF744FE5D94}"/>
              </a:ext>
            </a:extLst>
          </p:cNvPr>
          <p:cNvSpPr txBox="1"/>
          <p:nvPr/>
        </p:nvSpPr>
        <p:spPr>
          <a:xfrm>
            <a:off x="8418251" y="6105152"/>
            <a:ext cx="2581669" cy="369332"/>
          </a:xfrm>
          <a:prstGeom prst="rect">
            <a:avLst/>
          </a:prstGeom>
          <a:noFill/>
        </p:spPr>
        <p:txBody>
          <a:bodyPr wrap="none" rtlCol="0">
            <a:spAutoFit/>
          </a:bodyPr>
          <a:lstStyle/>
          <a:p>
            <a:r>
              <a:rPr lang="en-US" b="1" dirty="0"/>
              <a:t>Equivalent  TCP/IP model</a:t>
            </a:r>
            <a:endParaRPr lang="en-GB" b="1" dirty="0"/>
          </a:p>
        </p:txBody>
      </p:sp>
      <p:pic>
        <p:nvPicPr>
          <p:cNvPr id="15" name="Picture 14">
            <a:extLst>
              <a:ext uri="{FF2B5EF4-FFF2-40B4-BE49-F238E27FC236}">
                <a16:creationId xmlns:a16="http://schemas.microsoft.com/office/drawing/2014/main" id="{B4BFC89B-D1E2-654A-193F-39F0542C29A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Lst>
          </a:blip>
          <a:stretch>
            <a:fillRect/>
          </a:stretch>
        </p:blipFill>
        <p:spPr>
          <a:xfrm>
            <a:off x="5778442" y="773721"/>
            <a:ext cx="6315956" cy="3134162"/>
          </a:xfrm>
          <a:prstGeom prst="rect">
            <a:avLst/>
          </a:prstGeom>
        </p:spPr>
      </p:pic>
      <p:pic>
        <p:nvPicPr>
          <p:cNvPr id="17" name="Picture 16">
            <a:extLst>
              <a:ext uri="{FF2B5EF4-FFF2-40B4-BE49-F238E27FC236}">
                <a16:creationId xmlns:a16="http://schemas.microsoft.com/office/drawing/2014/main" id="{399674AB-5324-BBCF-55F8-9C03FF390807}"/>
              </a:ext>
            </a:extLst>
          </p:cNvPr>
          <p:cNvPicPr>
            <a:picLocks noChangeAspect="1"/>
          </p:cNvPicPr>
          <p:nvPr/>
        </p:nvPicPr>
        <p:blipFill>
          <a:blip r:embed="rId6">
            <a:extLst>
              <a:ext uri="{28A0092B-C50C-407E-A947-70E740481C1C}">
                <a14:useLocalDpi xmlns:a14="http://schemas.microsoft.com/office/drawing/2010/main" val="0"/>
              </a:ext>
            </a:extLst>
          </a:blip>
          <a:srcRect t="76575"/>
          <a:stretch>
            <a:fillRect/>
          </a:stretch>
        </p:blipFill>
        <p:spPr>
          <a:xfrm>
            <a:off x="588840" y="4127619"/>
            <a:ext cx="8947184" cy="993601"/>
          </a:xfrm>
          <a:prstGeom prst="rect">
            <a:avLst/>
          </a:prstGeom>
        </p:spPr>
      </p:pic>
      <p:sp>
        <p:nvSpPr>
          <p:cNvPr id="18" name="TextBox 17">
            <a:extLst>
              <a:ext uri="{FF2B5EF4-FFF2-40B4-BE49-F238E27FC236}">
                <a16:creationId xmlns:a16="http://schemas.microsoft.com/office/drawing/2014/main" id="{703F4B3C-0168-FCCF-AE09-CF1AE1D0A638}"/>
              </a:ext>
            </a:extLst>
          </p:cNvPr>
          <p:cNvSpPr txBox="1"/>
          <p:nvPr/>
        </p:nvSpPr>
        <p:spPr>
          <a:xfrm>
            <a:off x="2655976" y="3814527"/>
            <a:ext cx="3905599" cy="369332"/>
          </a:xfrm>
          <a:prstGeom prst="rect">
            <a:avLst/>
          </a:prstGeom>
          <a:noFill/>
        </p:spPr>
        <p:txBody>
          <a:bodyPr wrap="square" rtlCol="0">
            <a:spAutoFit/>
          </a:bodyPr>
          <a:lstStyle/>
          <a:p>
            <a:pPr algn="ctr"/>
            <a:r>
              <a:rPr lang="en-US" b="1" u="sng" dirty="0"/>
              <a:t>Data Encapsulation at the Sender </a:t>
            </a:r>
            <a:endParaRPr lang="en-GB" b="1" u="sng" dirty="0"/>
          </a:p>
        </p:txBody>
      </p:sp>
      <p:sp>
        <p:nvSpPr>
          <p:cNvPr id="19" name="TextBox 18">
            <a:extLst>
              <a:ext uri="{FF2B5EF4-FFF2-40B4-BE49-F238E27FC236}">
                <a16:creationId xmlns:a16="http://schemas.microsoft.com/office/drawing/2014/main" id="{C3EE8E02-96CD-42B6-D24A-8263C7808EC9}"/>
              </a:ext>
            </a:extLst>
          </p:cNvPr>
          <p:cNvSpPr txBox="1"/>
          <p:nvPr/>
        </p:nvSpPr>
        <p:spPr>
          <a:xfrm>
            <a:off x="5084181" y="4853307"/>
            <a:ext cx="1388522" cy="369332"/>
          </a:xfrm>
          <a:prstGeom prst="rect">
            <a:avLst/>
          </a:prstGeom>
          <a:noFill/>
        </p:spPr>
        <p:txBody>
          <a:bodyPr wrap="none" rtlCol="0">
            <a:spAutoFit/>
          </a:bodyPr>
          <a:lstStyle/>
          <a:p>
            <a:r>
              <a:rPr lang="en-US" b="1" u="sng" dirty="0"/>
              <a:t>OSI MAPING</a:t>
            </a:r>
            <a:endParaRPr lang="en-GB" b="1" u="sng" dirty="0"/>
          </a:p>
        </p:txBody>
      </p:sp>
    </p:spTree>
    <p:extLst>
      <p:ext uri="{BB962C8B-B14F-4D97-AF65-F5344CB8AC3E}">
        <p14:creationId xmlns:p14="http://schemas.microsoft.com/office/powerpoint/2010/main" val="2473200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47F7-9F48-D3D2-CF8D-0520FEB7EEF3}"/>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ACBE443-DE14-6D44-9553-1BFE0159665B}"/>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368E043C-C351-CA4E-3A25-5708021B70A0}"/>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9AD8F4BF-ACCF-337D-2642-51653C7196BC}"/>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 name="Rectangle: Rounded Corners 1">
            <a:extLst>
              <a:ext uri="{FF2B5EF4-FFF2-40B4-BE49-F238E27FC236}">
                <a16:creationId xmlns:a16="http://schemas.microsoft.com/office/drawing/2014/main" id="{ED260E2D-2447-5A37-09AC-E2BDD50F5A01}"/>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3" name="TextBox 2">
            <a:extLst>
              <a:ext uri="{FF2B5EF4-FFF2-40B4-BE49-F238E27FC236}">
                <a16:creationId xmlns:a16="http://schemas.microsoft.com/office/drawing/2014/main" id="{AD8143E8-9562-0320-9534-7310C3566E05}"/>
              </a:ext>
            </a:extLst>
          </p:cNvPr>
          <p:cNvSpPr txBox="1"/>
          <p:nvPr/>
        </p:nvSpPr>
        <p:spPr>
          <a:xfrm>
            <a:off x="588839" y="129627"/>
            <a:ext cx="8500569" cy="461665"/>
          </a:xfrm>
          <a:prstGeom prst="rect">
            <a:avLst/>
          </a:prstGeom>
          <a:noFill/>
        </p:spPr>
        <p:txBody>
          <a:bodyPr wrap="square">
            <a:spAutoFit/>
          </a:bodyPr>
          <a:lstStyle/>
          <a:p>
            <a:r>
              <a:rPr lang="en-GB" sz="2400" b="1" dirty="0">
                <a:solidFill>
                  <a:schemeClr val="bg1"/>
                </a:solidFill>
              </a:rPr>
              <a:t>Website Response, Decapsulation &amp; Troubleshooting</a:t>
            </a:r>
          </a:p>
        </p:txBody>
      </p:sp>
      <p:pic>
        <p:nvPicPr>
          <p:cNvPr id="6" name="Picture 5">
            <a:extLst>
              <a:ext uri="{FF2B5EF4-FFF2-40B4-BE49-F238E27FC236}">
                <a16:creationId xmlns:a16="http://schemas.microsoft.com/office/drawing/2014/main" id="{087EF52B-2507-86D6-07DB-C0CF50C2CC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912" y="652848"/>
            <a:ext cx="5789087" cy="2047165"/>
          </a:xfrm>
          <a:prstGeom prst="rect">
            <a:avLst/>
          </a:prstGeom>
        </p:spPr>
      </p:pic>
      <p:pic>
        <p:nvPicPr>
          <p:cNvPr id="10" name="Picture 9">
            <a:extLst>
              <a:ext uri="{FF2B5EF4-FFF2-40B4-BE49-F238E27FC236}">
                <a16:creationId xmlns:a16="http://schemas.microsoft.com/office/drawing/2014/main" id="{3F92C5A3-48D0-A226-EF70-7E25A4412F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044" y="3078800"/>
            <a:ext cx="6621385" cy="3139027"/>
          </a:xfrm>
          <a:prstGeom prst="rect">
            <a:avLst/>
          </a:prstGeom>
        </p:spPr>
      </p:pic>
      <p:sp>
        <p:nvSpPr>
          <p:cNvPr id="14" name="TextBox 13">
            <a:extLst>
              <a:ext uri="{FF2B5EF4-FFF2-40B4-BE49-F238E27FC236}">
                <a16:creationId xmlns:a16="http://schemas.microsoft.com/office/drawing/2014/main" id="{DF339BA2-362F-4950-19A8-39C57039D865}"/>
              </a:ext>
            </a:extLst>
          </p:cNvPr>
          <p:cNvSpPr txBox="1"/>
          <p:nvPr/>
        </p:nvSpPr>
        <p:spPr>
          <a:xfrm>
            <a:off x="6873921" y="795641"/>
            <a:ext cx="5111035" cy="5457904"/>
          </a:xfrm>
          <a:prstGeom prst="rect">
            <a:avLst/>
          </a:prstGeom>
          <a:noFill/>
        </p:spPr>
        <p:txBody>
          <a:bodyPr wrap="square">
            <a:spAutoFit/>
          </a:bodyPr>
          <a:lstStyle/>
          <a:p>
            <a:pPr marL="0" marR="0" algn="ctr">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TROUBLESHOOTING</a:t>
            </a:r>
          </a:p>
          <a:p>
            <a:r>
              <a:rPr lang="en-GB" dirty="0"/>
              <a:t>Let say the secure website refuse to open.</a:t>
            </a:r>
          </a:p>
          <a:p>
            <a:r>
              <a:rPr lang="en-GB" dirty="0"/>
              <a:t>We can use a layer-by-layer troubleshooting logic:</a:t>
            </a:r>
          </a:p>
          <a:p>
            <a:r>
              <a:rPr lang="en-GB" b="1" dirty="0"/>
              <a:t>1. PHYSICAL</a:t>
            </a:r>
            <a:endParaRPr lang="en-GB" dirty="0"/>
          </a:p>
          <a:p>
            <a:r>
              <a:rPr lang="en-GB" dirty="0"/>
              <a:t>   Is the client connected to the network?</a:t>
            </a:r>
          </a:p>
          <a:p>
            <a:r>
              <a:rPr lang="en-GB" dirty="0"/>
              <a:t>          ↓</a:t>
            </a:r>
          </a:p>
          <a:p>
            <a:r>
              <a:rPr lang="en-GB" b="1" dirty="0"/>
              <a:t>2. DATA-LINK</a:t>
            </a:r>
            <a:endParaRPr lang="en-GB" dirty="0"/>
          </a:p>
          <a:p>
            <a:r>
              <a:rPr lang="en-GB" dirty="0"/>
              <a:t>   Is local network connectivity working?</a:t>
            </a:r>
          </a:p>
          <a:p>
            <a:r>
              <a:rPr lang="en-GB" dirty="0"/>
              <a:t>          ↓</a:t>
            </a:r>
          </a:p>
          <a:p>
            <a:r>
              <a:rPr lang="en-GB" b="1" dirty="0"/>
              <a:t>3. NETWORK</a:t>
            </a:r>
            <a:endParaRPr lang="en-GB" dirty="0"/>
          </a:p>
          <a:p>
            <a:r>
              <a:rPr lang="en-GB" dirty="0"/>
              <a:t>   Does the client have valid IP configuration</a:t>
            </a:r>
          </a:p>
          <a:p>
            <a:r>
              <a:rPr lang="en-GB" dirty="0"/>
              <a:t>   and reach the destination?</a:t>
            </a:r>
          </a:p>
          <a:p>
            <a:r>
              <a:rPr lang="en-GB" dirty="0"/>
              <a:t>          ↓</a:t>
            </a:r>
          </a:p>
          <a:p>
            <a:r>
              <a:rPr lang="en-GB" b="1" dirty="0"/>
              <a:t>4. TRANSPORT</a:t>
            </a:r>
            <a:endParaRPr lang="en-GB" dirty="0"/>
          </a:p>
          <a:p>
            <a:r>
              <a:rPr lang="en-GB" dirty="0"/>
              <a:t>   Can the required service be reached?</a:t>
            </a:r>
          </a:p>
          <a:p>
            <a:r>
              <a:rPr lang="en-GB" dirty="0"/>
              <a:t>          ↓</a:t>
            </a:r>
          </a:p>
          <a:p>
            <a:r>
              <a:rPr lang="en-GB" b="1" dirty="0"/>
              <a:t>5. APPLICATION</a:t>
            </a:r>
            <a:endParaRPr lang="en-GB" dirty="0"/>
          </a:p>
          <a:p>
            <a:r>
              <a:rPr lang="en-GB" dirty="0"/>
              <a:t>   Does DNS work correctly?</a:t>
            </a:r>
          </a:p>
          <a:p>
            <a:r>
              <a:rPr lang="en-GB" dirty="0"/>
              <a:t>   Does HTTPS/TLS establish successfully?</a:t>
            </a:r>
          </a:p>
        </p:txBody>
      </p:sp>
    </p:spTree>
    <p:extLst>
      <p:ext uri="{BB962C8B-B14F-4D97-AF65-F5344CB8AC3E}">
        <p14:creationId xmlns:p14="http://schemas.microsoft.com/office/powerpoint/2010/main" val="1465047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49E31-8FF3-7D2A-623F-B75E8880A4AE}"/>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100BAF82-46EB-BACB-DE81-60E2898F0188}"/>
              </a:ext>
            </a:extLst>
          </p:cNvPr>
          <p:cNvGrpSpPr/>
          <p:nvPr/>
        </p:nvGrpSpPr>
        <p:grpSpPr>
          <a:xfrm>
            <a:off x="106843" y="98850"/>
            <a:ext cx="8982566" cy="523221"/>
            <a:chOff x="434389" y="1631724"/>
            <a:chExt cx="8508231" cy="3594552"/>
          </a:xfrm>
        </p:grpSpPr>
        <p:sp>
          <p:nvSpPr>
            <p:cNvPr id="11" name="Rectangle 10">
              <a:extLst>
                <a:ext uri="{FF2B5EF4-FFF2-40B4-BE49-F238E27FC236}">
                  <a16:creationId xmlns:a16="http://schemas.microsoft.com/office/drawing/2014/main" id="{C0F90555-B61A-DEC0-6615-DAE9FB8ABA5C}"/>
                </a:ext>
              </a:extLst>
            </p:cNvPr>
            <p:cNvSpPr/>
            <p:nvPr/>
          </p:nvSpPr>
          <p:spPr>
            <a:xfrm>
              <a:off x="434389" y="1631724"/>
              <a:ext cx="684727" cy="3594552"/>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0071CCDD-D871-8943-AD46-B443AF084A94}"/>
                </a:ext>
              </a:extLst>
            </p:cNvPr>
            <p:cNvSpPr/>
            <p:nvPr/>
          </p:nvSpPr>
          <p:spPr>
            <a:xfrm>
              <a:off x="955908" y="1631724"/>
              <a:ext cx="7986712" cy="3594552"/>
            </a:xfrm>
            <a:prstGeom prst="roundRect">
              <a:avLst>
                <a:gd name="adj" fmla="val 0"/>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ctr"/>
            <a:lstStyle/>
            <a:p>
              <a:pPr>
                <a:lnSpc>
                  <a:spcPct val="150000"/>
                </a:lnSpc>
              </a:pPr>
              <a:endParaRPr lang="en-GB" sz="4400" dirty="0"/>
            </a:p>
          </p:txBody>
        </p:sp>
      </p:grpSp>
      <p:sp>
        <p:nvSpPr>
          <p:cNvPr id="2" name="Rectangle: Rounded Corners 1">
            <a:extLst>
              <a:ext uri="{FF2B5EF4-FFF2-40B4-BE49-F238E27FC236}">
                <a16:creationId xmlns:a16="http://schemas.microsoft.com/office/drawing/2014/main" id="{D8FA4BCA-939D-50EE-4786-F0D796E74398}"/>
              </a:ext>
            </a:extLst>
          </p:cNvPr>
          <p:cNvSpPr/>
          <p:nvPr/>
        </p:nvSpPr>
        <p:spPr>
          <a:xfrm>
            <a:off x="741308" y="6457894"/>
            <a:ext cx="10709383" cy="314904"/>
          </a:xfrm>
          <a:prstGeom prst="roundRect">
            <a:avLst/>
          </a:prstGeom>
          <a:solidFill>
            <a:srgbClr val="00206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INTERNATIONAL CYBERSECURITY AND DIGITAL FORENSICS ACADEMY, NASARAWA</a:t>
            </a:r>
            <a:endParaRPr lang="en-GB" b="1" dirty="0"/>
          </a:p>
        </p:txBody>
      </p:sp>
      <p:sp>
        <p:nvSpPr>
          <p:cNvPr id="3" name="TextBox 2">
            <a:extLst>
              <a:ext uri="{FF2B5EF4-FFF2-40B4-BE49-F238E27FC236}">
                <a16:creationId xmlns:a16="http://schemas.microsoft.com/office/drawing/2014/main" id="{56E9DFCE-4D32-105E-E6F4-AA066D100176}"/>
              </a:ext>
            </a:extLst>
          </p:cNvPr>
          <p:cNvSpPr txBox="1"/>
          <p:nvPr/>
        </p:nvSpPr>
        <p:spPr>
          <a:xfrm>
            <a:off x="741308" y="115813"/>
            <a:ext cx="8500569" cy="461665"/>
          </a:xfrm>
          <a:prstGeom prst="rect">
            <a:avLst/>
          </a:prstGeom>
          <a:noFill/>
        </p:spPr>
        <p:txBody>
          <a:bodyPr wrap="square">
            <a:spAutoFit/>
          </a:bodyPr>
          <a:lstStyle/>
          <a:p>
            <a:r>
              <a:rPr lang="en-US" sz="2400" b="1" dirty="0">
                <a:solidFill>
                  <a:schemeClr val="bg1"/>
                </a:solidFill>
              </a:rPr>
              <a:t>R</a:t>
            </a:r>
            <a:r>
              <a:rPr lang="en-GB" sz="2400" b="1" dirty="0" err="1">
                <a:solidFill>
                  <a:schemeClr val="bg1"/>
                </a:solidFill>
              </a:rPr>
              <a:t>eferences</a:t>
            </a:r>
            <a:r>
              <a:rPr lang="en-GB" sz="2400" b="1" dirty="0">
                <a:solidFill>
                  <a:schemeClr val="bg1"/>
                </a:solidFill>
              </a:rPr>
              <a:t> </a:t>
            </a:r>
          </a:p>
        </p:txBody>
      </p:sp>
      <p:sp>
        <p:nvSpPr>
          <p:cNvPr id="5" name="TextBox 4">
            <a:extLst>
              <a:ext uri="{FF2B5EF4-FFF2-40B4-BE49-F238E27FC236}">
                <a16:creationId xmlns:a16="http://schemas.microsoft.com/office/drawing/2014/main" id="{B2B963F3-C406-C898-E60A-6DAEA22EC332}"/>
              </a:ext>
            </a:extLst>
          </p:cNvPr>
          <p:cNvSpPr txBox="1"/>
          <p:nvPr/>
        </p:nvSpPr>
        <p:spPr>
          <a:xfrm>
            <a:off x="657437" y="1278090"/>
            <a:ext cx="10709382" cy="4301819"/>
          </a:xfrm>
          <a:prstGeom prst="rect">
            <a:avLst/>
          </a:prstGeom>
          <a:noFill/>
        </p:spPr>
        <p:txBody>
          <a:bodyPr wrap="square">
            <a:spAutoFit/>
          </a:bodyPr>
          <a:lstStyle/>
          <a:p>
            <a:pPr marL="0" marR="0">
              <a:lnSpc>
                <a:spcPct val="150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References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Aft>
                <a:spcPts val="800"/>
              </a:spcAft>
              <a:buFont typeface="+mj-lt"/>
              <a:buAutoNum type="arabicPeriod"/>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Huawei Technologies Co., Ltd.</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(2024). </a:t>
            </a:r>
            <a:r>
              <a:rPr lang="en-GB" sz="1800" i="1" kern="100" dirty="0">
                <a:effectLst/>
                <a:latin typeface="Calibri" panose="020F0502020204030204" pitchFamily="34" charset="0"/>
                <a:ea typeface="Calibri" panose="020F0502020204030204" pitchFamily="34" charset="0"/>
                <a:cs typeface="Times New Roman" panose="02020603050405020304" pitchFamily="18" charset="0"/>
              </a:rPr>
              <a:t>HCIA-Datacom V1.0 Course Material</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Huawei ICT Academy.</a:t>
            </a:r>
          </a:p>
          <a:p>
            <a:pPr marL="342900" marR="0" lvl="0" indent="-342900">
              <a:lnSpc>
                <a:spcPct val="150000"/>
              </a:lnSpc>
              <a:spcAft>
                <a:spcPts val="800"/>
              </a:spcAft>
              <a:buFont typeface="+mj-lt"/>
              <a:buAutoNum type="arabicPeriod"/>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Cisco Networking Academy.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(2023). </a:t>
            </a:r>
            <a:r>
              <a:rPr lang="en-GB" sz="1800" i="1" kern="100" dirty="0">
                <a:effectLst/>
                <a:latin typeface="Calibri" panose="020F0502020204030204" pitchFamily="34" charset="0"/>
                <a:ea typeface="Calibri" panose="020F0502020204030204" pitchFamily="34" charset="0"/>
                <a:cs typeface="Times New Roman" panose="02020603050405020304" pitchFamily="18" charset="0"/>
              </a:rPr>
              <a:t>Introduction to Networks (ITN), CCNA Version 7</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Cisco Networking Academy.</a:t>
            </a:r>
          </a:p>
          <a:p>
            <a:pPr marL="342900" marR="0" lvl="0" indent="-342900">
              <a:lnSpc>
                <a:spcPct val="150000"/>
              </a:lnSpc>
              <a:spcAft>
                <a:spcPts val="800"/>
              </a:spcAft>
              <a:buFont typeface="+mj-lt"/>
              <a:buAutoNum type="arabicPeriod"/>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Internet Engineering Task Force (IETF).</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RFC 9293: </a:t>
            </a:r>
            <a:r>
              <a:rPr lang="en-GB" sz="1800" i="1" kern="100" dirty="0">
                <a:effectLst/>
                <a:latin typeface="Calibri" panose="020F0502020204030204" pitchFamily="34" charset="0"/>
                <a:ea typeface="Calibri" panose="020F0502020204030204" pitchFamily="34" charset="0"/>
                <a:cs typeface="Times New Roman" panose="02020603050405020304" pitchFamily="18" charset="0"/>
              </a:rPr>
              <a:t>Transmission Control Protocol (TCP)</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Available at: https://www.rfc-editor.org/rfc/rfc9293</a:t>
            </a:r>
          </a:p>
          <a:p>
            <a:pPr marL="342900" marR="0" lvl="0" indent="-342900">
              <a:lnSpc>
                <a:spcPct val="150000"/>
              </a:lnSpc>
              <a:spcAft>
                <a:spcPts val="800"/>
              </a:spcAft>
              <a:buFont typeface="+mj-lt"/>
              <a:buAutoNum type="arabicPeriod"/>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Internet Engineering Task Force (IETF).</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RFC 9110: </a:t>
            </a:r>
            <a:r>
              <a:rPr lang="en-GB" sz="1800" i="1" kern="100" dirty="0">
                <a:effectLst/>
                <a:latin typeface="Calibri" panose="020F0502020204030204" pitchFamily="34" charset="0"/>
                <a:ea typeface="Calibri" panose="020F0502020204030204" pitchFamily="34" charset="0"/>
                <a:cs typeface="Times New Roman" panose="02020603050405020304" pitchFamily="18" charset="0"/>
              </a:rPr>
              <a:t>HTTP Semantics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Available at: https://www.rfc-editor.org/rfc/rfc9110</a:t>
            </a:r>
          </a:p>
          <a:p>
            <a:pPr marL="342900" marR="0" lvl="0" indent="-342900">
              <a:lnSpc>
                <a:spcPct val="150000"/>
              </a:lnSpc>
              <a:spcAft>
                <a:spcPts val="800"/>
              </a:spcAft>
              <a:buFont typeface="+mj-lt"/>
              <a:buAutoNum type="arabicPeriod"/>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IEEE Standards Association.</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IEEE 802.3 Standard for Ethernet Networks.</a:t>
            </a:r>
          </a:p>
        </p:txBody>
      </p:sp>
    </p:spTree>
    <p:extLst>
      <p:ext uri="{BB962C8B-B14F-4D97-AF65-F5344CB8AC3E}">
        <p14:creationId xmlns:p14="http://schemas.microsoft.com/office/powerpoint/2010/main" val="1949446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2888</TotalTime>
  <Words>1544</Words>
  <Application>Microsoft Office PowerPoint</Application>
  <PresentationFormat>Widescreen</PresentationFormat>
  <Paragraphs>168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Courier New</vt:lpstr>
      <vt:lpstr>Segoe UI Emoji</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BgCyberry .</dc:creator>
  <cp:lastModifiedBy>BgCyberry .</cp:lastModifiedBy>
  <cp:revision>83</cp:revision>
  <dcterms:created xsi:type="dcterms:W3CDTF">2026-03-30T22:33:57Z</dcterms:created>
  <dcterms:modified xsi:type="dcterms:W3CDTF">2026-10-01T20:57:19Z</dcterms:modified>
</cp:coreProperties>
</file>